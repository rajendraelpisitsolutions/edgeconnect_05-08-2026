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The three highlighted differentiators — 'Air-gapped factories are first-class,' 'A lapsed license never stops production data,' and 'AI proposes — humans decide' — form the trust posture cluster. They are credibility wins competitors can't replicate without rewriting their products. Land them slowly; let each one breathe.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70048"/>
            <a:ext cx="18288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2999232"/>
            <a:ext cx="128016" cy="164592"/>
          </a:xfrm>
          <a:prstGeom prst="rect">
            <a:avLst/>
          </a:prstGeom>
          <a:noFill/>
          <a:ln w="12700">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05840" y="2999232"/>
            <a:ext cx="36576" cy="36576"/>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115568" y="2971800"/>
            <a:ext cx="3840480" cy="228600"/>
          </a:xfrm>
          <a:prstGeom prst="rect">
            <a:avLst/>
          </a:prstGeom>
          <a:noFill/>
        </p:spPr>
        <p:txBody>
          <a:bodyPr wrap="square" lIns="0" rIns="0" tIns="0" bIns="0" anchor="t">
            <a:spAutoFit/>
          </a:bodyPr>
          <a:lstStyle/>
          <a:p>
            <a:pPr algn="l">
              <a:lnSpc>
                <a:spcPct val="115000"/>
              </a:lnSpc>
            </a:pPr>
            <a:r>
              <a:rPr sz="1100" b="0" i="1">
                <a:solidFill>
                  <a:srgbClr val="A8B3BD"/>
                </a:solidFill>
                <a:latin typeface="Inter"/>
              </a:rPr>
              <a:t>shift-handover-w17.xlsx</a:t>
            </a:r>
          </a:p>
        </p:txBody>
      </p:sp>
      <p:sp>
        <p:nvSpPr>
          <p:cNvPr id="13" name="Rectangle 12"/>
          <p:cNvSpPr/>
          <p:nvPr/>
        </p:nvSpPr>
        <p:spPr>
          <a:xfrm>
            <a:off x="914400" y="3337560"/>
            <a:ext cx="4023360" cy="274320"/>
          </a:xfrm>
          <a:prstGeom prst="rect">
            <a:avLst/>
          </a:prstGeom>
          <a:solidFill>
            <a:srgbClr val="0F1419"/>
          </a:solidFill>
          <a:ln w="635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875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Time</a:t>
            </a:r>
          </a:p>
        </p:txBody>
      </p:sp>
      <p:sp>
        <p:nvSpPr>
          <p:cNvPr id="15" name="TextBox 14"/>
          <p:cNvSpPr txBox="1"/>
          <p:nvPr/>
        </p:nvSpPr>
        <p:spPr>
          <a:xfrm>
            <a:off x="1490472" y="3374136"/>
            <a:ext cx="33832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Op</a:t>
            </a:r>
          </a:p>
        </p:txBody>
      </p:sp>
      <p:sp>
        <p:nvSpPr>
          <p:cNvPr id="16" name="TextBox 15"/>
          <p:cNvSpPr txBox="1"/>
          <p:nvPr/>
        </p:nvSpPr>
        <p:spPr>
          <a:xfrm>
            <a:off x="19019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Mc</a:t>
            </a:r>
          </a:p>
        </p:txBody>
      </p:sp>
      <p:sp>
        <p:nvSpPr>
          <p:cNvPr id="17" name="TextBox 16"/>
          <p:cNvSpPr txBox="1"/>
          <p:nvPr/>
        </p:nvSpPr>
        <p:spPr>
          <a:xfrm>
            <a:off x="2404872" y="3374136"/>
            <a:ext cx="38404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OEE</a:t>
            </a:r>
          </a:p>
        </p:txBody>
      </p:sp>
      <p:sp>
        <p:nvSpPr>
          <p:cNvPr id="18" name="TextBox 17"/>
          <p:cNvSpPr txBox="1"/>
          <p:nvPr/>
        </p:nvSpPr>
        <p:spPr>
          <a:xfrm>
            <a:off x="2862072" y="3374136"/>
            <a:ext cx="207568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Notes</a:t>
            </a:r>
          </a:p>
        </p:txBody>
      </p:sp>
      <p:sp>
        <p:nvSpPr>
          <p:cNvPr id="19" name="Rectangle 18"/>
          <p:cNvSpPr/>
          <p:nvPr/>
        </p:nvSpPr>
        <p:spPr>
          <a:xfrm>
            <a:off x="914400" y="382036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875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0600</a:t>
            </a:r>
          </a:p>
        </p:txBody>
      </p:sp>
      <p:sp>
        <p:nvSpPr>
          <p:cNvPr id="21" name="TextBox 20"/>
          <p:cNvSpPr txBox="1"/>
          <p:nvPr/>
        </p:nvSpPr>
        <p:spPr>
          <a:xfrm>
            <a:off x="1490472" y="363016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22" name="TextBox 21"/>
          <p:cNvSpPr txBox="1"/>
          <p:nvPr/>
        </p:nvSpPr>
        <p:spPr>
          <a:xfrm>
            <a:off x="19019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23" name="TextBox 22"/>
          <p:cNvSpPr txBox="1"/>
          <p:nvPr/>
        </p:nvSpPr>
        <p:spPr>
          <a:xfrm>
            <a:off x="2404872" y="363016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24" name="TextBox 23"/>
          <p:cNvSpPr txBox="1"/>
          <p:nvPr/>
        </p:nvSpPr>
        <p:spPr>
          <a:xfrm>
            <a:off x="2862072" y="363016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25" name="Rectangle 24"/>
          <p:cNvSpPr/>
          <p:nvPr/>
        </p:nvSpPr>
        <p:spPr>
          <a:xfrm>
            <a:off x="14173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182880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23317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27889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914400" y="403982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875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0612</a:t>
            </a:r>
          </a:p>
        </p:txBody>
      </p:sp>
      <p:sp>
        <p:nvSpPr>
          <p:cNvPr id="31" name="TextBox 30"/>
          <p:cNvSpPr txBox="1"/>
          <p:nvPr/>
        </p:nvSpPr>
        <p:spPr>
          <a:xfrm>
            <a:off x="1490472" y="3849624"/>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32" name="TextBox 31"/>
          <p:cNvSpPr txBox="1"/>
          <p:nvPr/>
        </p:nvSpPr>
        <p:spPr>
          <a:xfrm>
            <a:off x="19019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33" name="TextBox 32"/>
          <p:cNvSpPr txBox="1"/>
          <p:nvPr/>
        </p:nvSpPr>
        <p:spPr>
          <a:xfrm>
            <a:off x="2404872" y="3849624"/>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81%</a:t>
            </a:r>
          </a:p>
        </p:txBody>
      </p:sp>
      <p:sp>
        <p:nvSpPr>
          <p:cNvPr id="34" name="TextBox 33"/>
          <p:cNvSpPr txBox="1"/>
          <p:nvPr/>
        </p:nvSpPr>
        <p:spPr>
          <a:xfrm>
            <a:off x="2862072" y="3849624"/>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jam cleared</a:t>
            </a:r>
          </a:p>
        </p:txBody>
      </p:sp>
      <p:sp>
        <p:nvSpPr>
          <p:cNvPr id="35" name="Rectangle 34"/>
          <p:cNvSpPr/>
          <p:nvPr/>
        </p:nvSpPr>
        <p:spPr>
          <a:xfrm>
            <a:off x="850392" y="4087368"/>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914400" y="4259276"/>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9875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0635</a:t>
            </a:r>
          </a:p>
        </p:txBody>
      </p:sp>
      <p:sp>
        <p:nvSpPr>
          <p:cNvPr id="38" name="TextBox 37"/>
          <p:cNvSpPr txBox="1"/>
          <p:nvPr/>
        </p:nvSpPr>
        <p:spPr>
          <a:xfrm>
            <a:off x="1490472" y="4069080"/>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39" name="TextBox 38"/>
          <p:cNvSpPr txBox="1"/>
          <p:nvPr/>
        </p:nvSpPr>
        <p:spPr>
          <a:xfrm>
            <a:off x="19019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M-15</a:t>
            </a:r>
          </a:p>
        </p:txBody>
      </p:sp>
      <p:sp>
        <p:nvSpPr>
          <p:cNvPr id="40" name="TextBox 39"/>
          <p:cNvSpPr txBox="1"/>
          <p:nvPr/>
        </p:nvSpPr>
        <p:spPr>
          <a:xfrm>
            <a:off x="2404872" y="4069080"/>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41" name="TextBox 40"/>
          <p:cNvSpPr txBox="1"/>
          <p:nvPr/>
        </p:nvSpPr>
        <p:spPr>
          <a:xfrm>
            <a:off x="2862072" y="4069080"/>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OFFLINE</a:t>
            </a:r>
          </a:p>
        </p:txBody>
      </p:sp>
      <p:sp>
        <p:nvSpPr>
          <p:cNvPr id="42" name="Rectangle 41"/>
          <p:cNvSpPr/>
          <p:nvPr/>
        </p:nvSpPr>
        <p:spPr>
          <a:xfrm>
            <a:off x="914400" y="4478732"/>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9875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0700</a:t>
            </a:r>
          </a:p>
        </p:txBody>
      </p:sp>
      <p:sp>
        <p:nvSpPr>
          <p:cNvPr id="44" name="TextBox 43"/>
          <p:cNvSpPr txBox="1"/>
          <p:nvPr/>
        </p:nvSpPr>
        <p:spPr>
          <a:xfrm>
            <a:off x="1490472" y="4288536"/>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45" name="TextBox 44"/>
          <p:cNvSpPr txBox="1"/>
          <p:nvPr/>
        </p:nvSpPr>
        <p:spPr>
          <a:xfrm>
            <a:off x="19019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46" name="TextBox 45"/>
          <p:cNvSpPr txBox="1"/>
          <p:nvPr/>
        </p:nvSpPr>
        <p:spPr>
          <a:xfrm>
            <a:off x="2404872" y="4288536"/>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82%</a:t>
            </a:r>
          </a:p>
        </p:txBody>
      </p:sp>
      <p:sp>
        <p:nvSpPr>
          <p:cNvPr id="47" name="TextBox 46"/>
          <p:cNvSpPr txBox="1"/>
          <p:nvPr/>
        </p:nvSpPr>
        <p:spPr>
          <a:xfrm>
            <a:off x="2862072" y="4288536"/>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shift chg</a:t>
            </a:r>
          </a:p>
        </p:txBody>
      </p:sp>
      <p:sp>
        <p:nvSpPr>
          <p:cNvPr id="48" name="Rectangle 47"/>
          <p:cNvSpPr/>
          <p:nvPr/>
        </p:nvSpPr>
        <p:spPr>
          <a:xfrm>
            <a:off x="914400" y="4698188"/>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875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0701</a:t>
            </a:r>
          </a:p>
        </p:txBody>
      </p:sp>
      <p:sp>
        <p:nvSpPr>
          <p:cNvPr id="50" name="TextBox 49"/>
          <p:cNvSpPr txBox="1"/>
          <p:nvPr/>
        </p:nvSpPr>
        <p:spPr>
          <a:xfrm>
            <a:off x="1490472" y="4507992"/>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1" name="TextBox 50"/>
          <p:cNvSpPr txBox="1"/>
          <p:nvPr/>
        </p:nvSpPr>
        <p:spPr>
          <a:xfrm>
            <a:off x="19019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2" name="TextBox 51"/>
          <p:cNvSpPr txBox="1"/>
          <p:nvPr/>
        </p:nvSpPr>
        <p:spPr>
          <a:xfrm>
            <a:off x="2404872" y="4507992"/>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53" name="TextBox 52"/>
          <p:cNvSpPr txBox="1"/>
          <p:nvPr/>
        </p:nvSpPr>
        <p:spPr>
          <a:xfrm>
            <a:off x="2862072" y="4507992"/>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retry</a:t>
            </a:r>
          </a:p>
        </p:txBody>
      </p:sp>
      <p:sp>
        <p:nvSpPr>
          <p:cNvPr id="54" name="Rectangle 53"/>
          <p:cNvSpPr/>
          <p:nvPr/>
        </p:nvSpPr>
        <p:spPr>
          <a:xfrm>
            <a:off x="914400" y="491764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9875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0712</a:t>
            </a:r>
          </a:p>
        </p:txBody>
      </p:sp>
      <p:sp>
        <p:nvSpPr>
          <p:cNvPr id="56" name="TextBox 55"/>
          <p:cNvSpPr txBox="1"/>
          <p:nvPr/>
        </p:nvSpPr>
        <p:spPr>
          <a:xfrm>
            <a:off x="1490472" y="472744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7" name="TextBox 56"/>
          <p:cNvSpPr txBox="1"/>
          <p:nvPr/>
        </p:nvSpPr>
        <p:spPr>
          <a:xfrm>
            <a:off x="19019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8" name="TextBox 57"/>
          <p:cNvSpPr txBox="1"/>
          <p:nvPr/>
        </p:nvSpPr>
        <p:spPr>
          <a:xfrm>
            <a:off x="2404872" y="472744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76%</a:t>
            </a:r>
          </a:p>
        </p:txBody>
      </p:sp>
      <p:sp>
        <p:nvSpPr>
          <p:cNvPr id="59" name="TextBox 58"/>
          <p:cNvSpPr txBox="1"/>
          <p:nvPr/>
        </p:nvSpPr>
        <p:spPr>
          <a:xfrm>
            <a:off x="2862072" y="472744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60" name="Rectangle 59"/>
          <p:cNvSpPr/>
          <p:nvPr/>
        </p:nvSpPr>
        <p:spPr>
          <a:xfrm>
            <a:off x="850392" y="4965192"/>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Rectangle 60"/>
          <p:cNvSpPr/>
          <p:nvPr/>
        </p:nvSpPr>
        <p:spPr>
          <a:xfrm>
            <a:off x="914400" y="513710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9875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0830</a:t>
            </a:r>
          </a:p>
        </p:txBody>
      </p:sp>
      <p:sp>
        <p:nvSpPr>
          <p:cNvPr id="63" name="TextBox 62"/>
          <p:cNvSpPr txBox="1"/>
          <p:nvPr/>
        </p:nvSpPr>
        <p:spPr>
          <a:xfrm>
            <a:off x="1490472" y="4946904"/>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TLN</a:t>
            </a:r>
          </a:p>
        </p:txBody>
      </p:sp>
      <p:sp>
        <p:nvSpPr>
          <p:cNvPr id="64" name="TextBox 63"/>
          <p:cNvSpPr txBox="1"/>
          <p:nvPr/>
        </p:nvSpPr>
        <p:spPr>
          <a:xfrm>
            <a:off x="19019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M-08</a:t>
            </a:r>
          </a:p>
        </p:txBody>
      </p:sp>
      <p:sp>
        <p:nvSpPr>
          <p:cNvPr id="65" name="TextBox 64"/>
          <p:cNvSpPr txBox="1"/>
          <p:nvPr/>
        </p:nvSpPr>
        <p:spPr>
          <a:xfrm>
            <a:off x="2404872" y="4946904"/>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66" name="TextBox 65"/>
          <p:cNvSpPr txBox="1"/>
          <p:nvPr/>
        </p:nvSpPr>
        <p:spPr>
          <a:xfrm>
            <a:off x="2862072" y="4946904"/>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down 47min</a:t>
            </a:r>
          </a:p>
        </p:txBody>
      </p:sp>
      <p:sp>
        <p:nvSpPr>
          <p:cNvPr id="67" name="TextBox 66"/>
          <p:cNvSpPr txBox="1"/>
          <p:nvPr/>
        </p:nvSpPr>
        <p:spPr>
          <a:xfrm>
            <a:off x="914400" y="5212080"/>
            <a:ext cx="4023360" cy="320040"/>
          </a:xfrm>
          <a:prstGeom prst="rect">
            <a:avLst/>
          </a:prstGeom>
          <a:noFill/>
        </p:spPr>
        <p:txBody>
          <a:bodyPr wrap="square" lIns="0" rIns="0" tIns="0" bIns="0" anchor="t">
            <a:spAutoFit/>
          </a:bodyPr>
          <a:lstStyle/>
          <a:p>
            <a:pPr algn="l">
              <a:lnSpc>
                <a:spcPct val="115000"/>
              </a:lnSpc>
            </a:pPr>
            <a:r>
              <a:rPr sz="1200" b="0" i="1">
                <a:solidFill>
                  <a:srgbClr val="A8B3BD"/>
                </a:solidFill>
                <a:latin typeface="Inter"/>
              </a:rPr>
              <a:t>Tribal knowledge in cells. No timestamps you can trust.</a:t>
            </a:r>
          </a:p>
        </p:txBody>
      </p:sp>
      <p:sp>
        <p:nvSpPr>
          <p:cNvPr id="68" name="TextBox 67"/>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69" name="Rectangle 68"/>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71" name="TextBox 70"/>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72" name="Rectangle 71"/>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TextBox 72"/>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74" name="TextBox 73"/>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75" name="Rectangle 74"/>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TextBox 75"/>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77" name="TextBox 76"/>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78" name="Rectangle 77"/>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TextBox 78"/>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80" name="TextBox 79"/>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81" name="Rectangle 80"/>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TextBox 81"/>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83" name="TextBox 82"/>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MT-LINKi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Siemens S7    ·    OPC UA Client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172200" y="2926080"/>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Air-gapped factories are first-class</a:t>
            </a:r>
          </a:p>
        </p:txBody>
      </p:sp>
      <p:sp>
        <p:nvSpPr>
          <p:cNvPr id="19" name="TextBox 18"/>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20" name="Rectangle 19"/>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3" name="TextBox 22"/>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4" name="Rectangle 23"/>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7" name="TextBox 26"/>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8" name="Rectangle 27"/>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30" name="TextBox 29"/>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1" name="Rectangle 30"/>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3" name="TextBox 32"/>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52044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306324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43400" y="1691640"/>
            <a:ext cx="3520440" cy="2697480"/>
          </a:xfrm>
          <a:prstGeom prst="rect">
            <a:avLst/>
          </a:prstGeom>
          <a:solidFill>
            <a:srgbClr val="2E343B"/>
          </a:solidFill>
          <a:ln w="2540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00600"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00600"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17720" y="1947672"/>
            <a:ext cx="3063240" cy="411480"/>
          </a:xfrm>
          <a:prstGeom prst="rect">
            <a:avLst/>
          </a:prstGeom>
          <a:noFill/>
        </p:spPr>
        <p:txBody>
          <a:bodyPr wrap="square" lIns="0" rIns="0" tIns="0" bIns="0" anchor="t">
            <a:spAutoFit/>
          </a:bodyPr>
          <a:lstStyle/>
          <a:p>
            <a:pPr algn="l">
              <a:lnSpc>
                <a:spcPct val="115000"/>
              </a:lnSpc>
            </a:pPr>
            <a:r>
              <a:rPr sz="1700" b="1" i="0" spc="250">
                <a:solidFill>
                  <a:srgbClr val="00A0E0"/>
                </a:solidFill>
                <a:latin typeface="Inter"/>
              </a:rPr>
              <a:t>PROFESSIONAL</a:t>
            </a:r>
          </a:p>
        </p:txBody>
      </p:sp>
      <p:sp>
        <p:nvSpPr>
          <p:cNvPr id="21" name="TextBox 20"/>
          <p:cNvSpPr txBox="1"/>
          <p:nvPr/>
        </p:nvSpPr>
        <p:spPr>
          <a:xfrm>
            <a:off x="461772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1772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1772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4632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1772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4632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1772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4632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046720" y="1691640"/>
            <a:ext cx="352044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21040" y="1947672"/>
            <a:ext cx="306324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2104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2104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2104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54964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2104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54964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2104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54964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61772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MT-LINKi  ·  MTConnect  ·  Brother HTTP  ·  Modbus TCP  ·  MQTT  ·  OPC UA Server</a:t>
            </a:r>
          </a:p>
        </p:txBody>
      </p:sp>
      <p:sp>
        <p:nvSpPr>
          <p:cNvPr id="40" name="Rectangle 39"/>
          <p:cNvSpPr/>
          <p:nvPr/>
        </p:nvSpPr>
        <p:spPr>
          <a:xfrm>
            <a:off x="640080" y="516636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3492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234543" y="5760720"/>
            <a:ext cx="2286000"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234543" y="5760720"/>
            <a:ext cx="2286000"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OPC UA Client (southbound)</a:t>
            </a:r>
          </a:p>
        </p:txBody>
      </p:sp>
      <p:sp>
        <p:nvSpPr>
          <p:cNvPr id="44" name="Rounded Rectangle 43"/>
          <p:cNvSpPr/>
          <p:nvPr/>
        </p:nvSpPr>
        <p:spPr>
          <a:xfrm>
            <a:off x="2685135" y="5760720"/>
            <a:ext cx="206654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2685135" y="5760720"/>
            <a:ext cx="206654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Siemens S7 (southbound)</a:t>
            </a:r>
          </a:p>
        </p:txBody>
      </p:sp>
      <p:sp>
        <p:nvSpPr>
          <p:cNvPr id="46" name="Rounded Rectangle 45"/>
          <p:cNvSpPr/>
          <p:nvPr/>
        </p:nvSpPr>
        <p:spPr>
          <a:xfrm>
            <a:off x="4916271"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4916271"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8" name="Rounded Rectangle 47"/>
          <p:cNvSpPr/>
          <p:nvPr/>
        </p:nvSpPr>
        <p:spPr>
          <a:xfrm>
            <a:off x="7586319" y="57607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586319" y="57607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50" name="Rounded Rectangle 49"/>
          <p:cNvSpPr/>
          <p:nvPr/>
        </p:nvSpPr>
        <p:spPr>
          <a:xfrm>
            <a:off x="9451695"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9451695"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267047" y="4983480"/>
            <a:ext cx="36576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267047" y="4983480"/>
            <a:ext cx="3657600" cy="594360"/>
          </a:xfrm>
          <a:prstGeom prst="rect">
            <a:avLst/>
          </a:prstGeom>
          <a:noFill/>
        </p:spPr>
        <p:txBody>
          <a:bodyPr wrap="square" lIns="0" rIns="0" tIns="0" bIns="0" anchor="ctr">
            <a:spAutoFit/>
          </a:bodyPr>
          <a:lstStyle/>
          <a:p>
            <a:pPr algn="ctr">
              <a:lnSpc>
                <a:spcPct val="115000"/>
              </a:lnSpc>
            </a:pPr>
            <a:r>
              <a:rPr sz="1600" b="1" i="0" spc="120">
                <a:solidFill>
                  <a:srgbClr val="0F1419"/>
                </a:solidFill>
                <a:latin typeface="Inter"/>
              </a:rPr>
              <a:t>Scope your first machine</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