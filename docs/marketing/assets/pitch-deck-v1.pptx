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Emphasize: 'AI proposes; humans decide' and 'A lapsed license never stops production data.' Both are credibility wins competitors can't replicate without rewriting their products.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400800" cy="365760"/>
          </a:xfrm>
          <a:prstGeom prst="rect">
            <a:avLst/>
          </a:prstGeom>
          <a:noFill/>
        </p:spPr>
        <p:txBody>
          <a:bodyPr wrap="square" lIns="0" rIns="0" tIns="0" bIns="0" anchor="t">
            <a:spAutoFit/>
          </a:bodyPr>
          <a:lstStyle/>
          <a:p>
            <a:pPr algn="l">
              <a:lnSpc>
                <a:spcPct val="115000"/>
              </a:lnSpc>
            </a:pPr>
            <a:r>
              <a:rPr sz="18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400800" cy="365760"/>
          </a:xfrm>
          <a:prstGeom prst="rect">
            <a:avLst/>
          </a:prstGeom>
          <a:noFill/>
        </p:spPr>
        <p:txBody>
          <a:bodyPr wrap="square" lIns="0" rIns="0" tIns="0" bIns="0" anchor="t">
            <a:spAutoFit/>
          </a:bodyPr>
          <a:lstStyle/>
          <a:p>
            <a:pPr algn="l">
              <a:lnSpc>
                <a:spcPct val="115000"/>
              </a:lnSpc>
            </a:pPr>
            <a:r>
              <a:rPr sz="1800" b="1" i="0">
                <a:solidFill>
                  <a:srgbClr val="E8ECF1"/>
                </a:solidFill>
                <a:latin typeface="Inter"/>
              </a:rPr>
              <a:t>Automotive parts and precision machining operations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Tier-2 suppliers needing audit-defensible OEE and provenance.</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400800" cy="365760"/>
          </a:xfrm>
          <a:prstGeom prst="rect">
            <a:avLst/>
          </a:prstGeom>
          <a:noFill/>
        </p:spPr>
        <p:txBody>
          <a:bodyPr wrap="square" lIns="0" rIns="0" tIns="0" bIns="0" anchor="t">
            <a:spAutoFit/>
          </a:bodyPr>
          <a:lstStyle/>
          <a:p>
            <a:pPr algn="l">
              <a:lnSpc>
                <a:spcPct val="115000"/>
              </a:lnSpc>
            </a:pPr>
            <a:r>
              <a:rPr sz="1800" b="1" i="0">
                <a:solidFill>
                  <a:srgbClr val="E8ECF1"/>
                </a:solidFill>
                <a:latin typeface="Inter"/>
              </a:rPr>
              <a:t>Brownfield modernization projects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04</a:t>
            </a:r>
          </a:p>
        </p:txBody>
      </p:sp>
      <p:sp>
        <p:nvSpPr>
          <p:cNvPr id="20" name="TextBox 19"/>
          <p:cNvSpPr txBox="1"/>
          <p:nvPr/>
        </p:nvSpPr>
        <p:spPr>
          <a:xfrm>
            <a:off x="1691640" y="4480559"/>
            <a:ext cx="6400800" cy="365760"/>
          </a:xfrm>
          <a:prstGeom prst="rect">
            <a:avLst/>
          </a:prstGeom>
          <a:noFill/>
        </p:spPr>
        <p:txBody>
          <a:bodyPr wrap="square" lIns="0" rIns="0" tIns="0" bIns="0" anchor="t">
            <a:spAutoFit/>
          </a:bodyPr>
          <a:lstStyle/>
          <a:p>
            <a:pPr algn="l">
              <a:lnSpc>
                <a:spcPct val="115000"/>
              </a:lnSpc>
            </a:pPr>
            <a:r>
              <a:rPr sz="1800" b="1" i="0">
                <a:solidFill>
                  <a:srgbClr val="E8ECF1"/>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05</a:t>
            </a:r>
          </a:p>
        </p:txBody>
      </p:sp>
      <p:sp>
        <p:nvSpPr>
          <p:cNvPr id="24" name="TextBox 23"/>
          <p:cNvSpPr txBox="1"/>
          <p:nvPr/>
        </p:nvSpPr>
        <p:spPr>
          <a:xfrm>
            <a:off x="1691640" y="5349240"/>
            <a:ext cx="6400800" cy="365760"/>
          </a:xfrm>
          <a:prstGeom prst="rect">
            <a:avLst/>
          </a:prstGeom>
          <a:noFill/>
        </p:spPr>
        <p:txBody>
          <a:bodyPr wrap="square" lIns="0" rIns="0" tIns="0" bIns="0" anchor="t">
            <a:spAutoFit/>
          </a:bodyPr>
          <a:lstStyle/>
          <a:p>
            <a:pPr algn="l">
              <a:lnSpc>
                <a:spcPct val="115000"/>
              </a:lnSpc>
            </a:pPr>
            <a:r>
              <a:rPr sz="1800" b="1" i="0">
                <a:solidFill>
                  <a:srgbClr val="E8ECF1"/>
                </a:solidFill>
                <a:latin typeface="Inter"/>
              </a:rPr>
              <a:t>Multi-site industrial operations teams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97480"/>
            <a:ext cx="27432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315468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2" name="TextBox 11"/>
          <p:cNvSpPr txBox="1"/>
          <p:nvPr/>
        </p:nvSpPr>
        <p:spPr>
          <a:xfrm>
            <a:off x="187452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3" name="TextBox 12"/>
          <p:cNvSpPr txBox="1"/>
          <p:nvPr/>
        </p:nvSpPr>
        <p:spPr>
          <a:xfrm>
            <a:off x="283464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4" name="TextBox 13"/>
          <p:cNvSpPr txBox="1"/>
          <p:nvPr/>
        </p:nvSpPr>
        <p:spPr>
          <a:xfrm>
            <a:off x="379476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5" name="Rectangle 14"/>
          <p:cNvSpPr/>
          <p:nvPr/>
        </p:nvSpPr>
        <p:spPr>
          <a:xfrm>
            <a:off x="914400" y="344728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1440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7" name="TextBox 16"/>
          <p:cNvSpPr txBox="1"/>
          <p:nvPr/>
        </p:nvSpPr>
        <p:spPr>
          <a:xfrm>
            <a:off x="187452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8" name="TextBox 17"/>
          <p:cNvSpPr txBox="1"/>
          <p:nvPr/>
        </p:nvSpPr>
        <p:spPr>
          <a:xfrm>
            <a:off x="283464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9" name="TextBox 18"/>
          <p:cNvSpPr txBox="1"/>
          <p:nvPr/>
        </p:nvSpPr>
        <p:spPr>
          <a:xfrm>
            <a:off x="379476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0" name="Rectangle 19"/>
          <p:cNvSpPr/>
          <p:nvPr/>
        </p:nvSpPr>
        <p:spPr>
          <a:xfrm>
            <a:off x="914400" y="373989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1440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2" name="TextBox 21"/>
          <p:cNvSpPr txBox="1"/>
          <p:nvPr/>
        </p:nvSpPr>
        <p:spPr>
          <a:xfrm>
            <a:off x="187452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3" name="TextBox 22"/>
          <p:cNvSpPr txBox="1"/>
          <p:nvPr/>
        </p:nvSpPr>
        <p:spPr>
          <a:xfrm>
            <a:off x="283464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4" name="TextBox 23"/>
          <p:cNvSpPr txBox="1"/>
          <p:nvPr/>
        </p:nvSpPr>
        <p:spPr>
          <a:xfrm>
            <a:off x="379476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5" name="Rectangle 24"/>
          <p:cNvSpPr/>
          <p:nvPr/>
        </p:nvSpPr>
        <p:spPr>
          <a:xfrm>
            <a:off x="914400" y="4032504"/>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91440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7" name="TextBox 26"/>
          <p:cNvSpPr txBox="1"/>
          <p:nvPr/>
        </p:nvSpPr>
        <p:spPr>
          <a:xfrm>
            <a:off x="187452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8" name="TextBox 27"/>
          <p:cNvSpPr txBox="1"/>
          <p:nvPr/>
        </p:nvSpPr>
        <p:spPr>
          <a:xfrm>
            <a:off x="283464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9" name="TextBox 28"/>
          <p:cNvSpPr txBox="1"/>
          <p:nvPr/>
        </p:nvSpPr>
        <p:spPr>
          <a:xfrm>
            <a:off x="379476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0" name="Rectangle 29"/>
          <p:cNvSpPr/>
          <p:nvPr/>
        </p:nvSpPr>
        <p:spPr>
          <a:xfrm>
            <a:off x="914400" y="4325112"/>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91440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2" name="TextBox 31"/>
          <p:cNvSpPr txBox="1"/>
          <p:nvPr/>
        </p:nvSpPr>
        <p:spPr>
          <a:xfrm>
            <a:off x="187452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3" name="TextBox 32"/>
          <p:cNvSpPr txBox="1"/>
          <p:nvPr/>
        </p:nvSpPr>
        <p:spPr>
          <a:xfrm>
            <a:off x="283464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4" name="TextBox 33"/>
          <p:cNvSpPr txBox="1"/>
          <p:nvPr/>
        </p:nvSpPr>
        <p:spPr>
          <a:xfrm>
            <a:off x="379476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5" name="Rectangle 34"/>
          <p:cNvSpPr/>
          <p:nvPr/>
        </p:nvSpPr>
        <p:spPr>
          <a:xfrm>
            <a:off x="914400" y="461772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1440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7" name="TextBox 36"/>
          <p:cNvSpPr txBox="1"/>
          <p:nvPr/>
        </p:nvSpPr>
        <p:spPr>
          <a:xfrm>
            <a:off x="187452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8" name="TextBox 37"/>
          <p:cNvSpPr txBox="1"/>
          <p:nvPr/>
        </p:nvSpPr>
        <p:spPr>
          <a:xfrm>
            <a:off x="283464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9" name="TextBox 38"/>
          <p:cNvSpPr txBox="1"/>
          <p:nvPr/>
        </p:nvSpPr>
        <p:spPr>
          <a:xfrm>
            <a:off x="379476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0" name="Rectangle 39"/>
          <p:cNvSpPr/>
          <p:nvPr/>
        </p:nvSpPr>
        <p:spPr>
          <a:xfrm>
            <a:off x="914400" y="491032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91440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2" name="TextBox 41"/>
          <p:cNvSpPr txBox="1"/>
          <p:nvPr/>
        </p:nvSpPr>
        <p:spPr>
          <a:xfrm>
            <a:off x="187452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3" name="TextBox 42"/>
          <p:cNvSpPr txBox="1"/>
          <p:nvPr/>
        </p:nvSpPr>
        <p:spPr>
          <a:xfrm>
            <a:off x="283464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4" name="TextBox 43"/>
          <p:cNvSpPr txBox="1"/>
          <p:nvPr/>
        </p:nvSpPr>
        <p:spPr>
          <a:xfrm>
            <a:off x="379476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5" name="Rectangle 44"/>
          <p:cNvSpPr/>
          <p:nvPr/>
        </p:nvSpPr>
        <p:spPr>
          <a:xfrm>
            <a:off x="914400" y="520293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91440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7" name="TextBox 46"/>
          <p:cNvSpPr txBox="1"/>
          <p:nvPr/>
        </p:nvSpPr>
        <p:spPr>
          <a:xfrm>
            <a:off x="187452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8" name="TextBox 47"/>
          <p:cNvSpPr txBox="1"/>
          <p:nvPr/>
        </p:nvSpPr>
        <p:spPr>
          <a:xfrm>
            <a:off x="283464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9" name="TextBox 48"/>
          <p:cNvSpPr txBox="1"/>
          <p:nvPr/>
        </p:nvSpPr>
        <p:spPr>
          <a:xfrm>
            <a:off x="379476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50" name="TextBox 49"/>
          <p:cNvSpPr txBox="1"/>
          <p:nvPr/>
        </p:nvSpPr>
        <p:spPr>
          <a:xfrm>
            <a:off x="914400" y="4983480"/>
            <a:ext cx="4023360" cy="594360"/>
          </a:xfrm>
          <a:prstGeom prst="rect">
            <a:avLst/>
          </a:prstGeom>
          <a:noFill/>
        </p:spPr>
        <p:txBody>
          <a:bodyPr wrap="square" lIns="0" rIns="0" tIns="0" bIns="0" anchor="t">
            <a:spAutoFit/>
          </a:bodyPr>
          <a:lstStyle/>
          <a:p>
            <a:pPr algn="l">
              <a:lnSpc>
                <a:spcPct val="130000"/>
              </a:lnSpc>
            </a:pPr>
            <a:r>
              <a:rPr sz="1200" b="0" i="1">
                <a:solidFill>
                  <a:srgbClr val="A8B3BD"/>
                </a:solidFill>
                <a:latin typeface="Inter"/>
              </a:rPr>
              <a:t>Tribal knowledge in cells.
No timestamps you can trust.</a:t>
            </a:r>
          </a:p>
        </p:txBody>
      </p:sp>
      <p:sp>
        <p:nvSpPr>
          <p:cNvPr id="51" name="TextBox 50"/>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52" name="Rectangle 51"/>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54" name="TextBox 53"/>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55" name="Rectangle 54"/>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57" name="TextBox 56"/>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58" name="Rectangle 57"/>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60" name="TextBox 59"/>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61" name="Rectangle 60"/>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63" name="TextBox 62"/>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64" name="Rectangle 63"/>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66" name="TextBox 65"/>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MT-LINKi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6928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and Modbus-fronted machines.</a:t>
            </a:r>
          </a:p>
        </p:txBody>
      </p:sp>
      <p:sp>
        <p:nvSpPr>
          <p:cNvPr id="24" name="TextBox 23"/>
          <p:cNvSpPr txBox="1"/>
          <p:nvPr/>
        </p:nvSpPr>
        <p:spPr>
          <a:xfrm>
            <a:off x="640080" y="6080760"/>
            <a:ext cx="10881360" cy="320040"/>
          </a:xfrm>
          <a:prstGeom prst="rect">
            <a:avLst/>
          </a:prstGeom>
          <a:noFill/>
        </p:spPr>
        <p:txBody>
          <a:bodyPr wrap="square" lIns="0" rIns="0" tIns="0" bIns="0" anchor="t">
            <a:spAutoFit/>
          </a:bodyPr>
          <a:lstStyle/>
          <a:p>
            <a:pPr algn="ctr">
              <a:lnSpc>
                <a:spcPct val="115000"/>
              </a:lnSpc>
            </a:pPr>
            <a:r>
              <a:rPr sz="1000" b="0" i="0" spc="250">
                <a:solidFill>
                  <a:srgbClr val="A8B3BD"/>
                </a:solidFill>
                <a:latin typeface="Inter"/>
              </a:rPr>
              <a:t>COMING  ·  Siemens S7    ·    OPC UA Client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Air-gapped factories are first-class</a:t>
            </a:r>
          </a:p>
        </p:txBody>
      </p:sp>
      <p:sp>
        <p:nvSpPr>
          <p:cNvPr id="18" name="TextBox 17"/>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19" name="Rectangle 18"/>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2" name="TextBox 21"/>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3" name="Rectangle 22"/>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6" name="TextBox 25"/>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7" name="Rectangle 26"/>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29" name="TextBox 28"/>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0" name="Rectangle 29"/>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2" name="TextBox 31"/>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20240"/>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13432"/>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4320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8803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8803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20954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20954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53872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53872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TextBox 16"/>
          <p:cNvSpPr txBox="1"/>
          <p:nvPr/>
        </p:nvSpPr>
        <p:spPr>
          <a:xfrm>
            <a:off x="91440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8" name="TextBox 17"/>
          <p:cNvSpPr txBox="1"/>
          <p:nvPr/>
        </p:nvSpPr>
        <p:spPr>
          <a:xfrm>
            <a:off x="1143000" y="3867912"/>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Diagnostics + store-and-forward</a:t>
            </a:r>
          </a:p>
        </p:txBody>
      </p:sp>
      <p:sp>
        <p:nvSpPr>
          <p:cNvPr id="19" name="Rectangle 18"/>
          <p:cNvSpPr/>
          <p:nvPr/>
        </p:nvSpPr>
        <p:spPr>
          <a:xfrm>
            <a:off x="4343400" y="1691640"/>
            <a:ext cx="3520440" cy="269748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4709160" y="1581912"/>
            <a:ext cx="1371600" cy="256032"/>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4709160" y="1581912"/>
            <a:ext cx="1371600" cy="256032"/>
          </a:xfrm>
          <a:prstGeom prst="rect">
            <a:avLst/>
          </a:prstGeom>
          <a:noFill/>
        </p:spPr>
        <p:txBody>
          <a:bodyPr wrap="square" lIns="0" rIns="0" tIns="0" bIns="0" anchor="ctr">
            <a:spAutoFit/>
          </a:bodyPr>
          <a:lstStyle/>
          <a:p>
            <a:pPr algn="ctr">
              <a:lnSpc>
                <a:spcPct val="115000"/>
              </a:lnSpc>
            </a:pPr>
            <a:r>
              <a:rPr sz="900" b="1" i="0" spc="200">
                <a:solidFill>
                  <a:srgbClr val="0F1419"/>
                </a:solidFill>
                <a:latin typeface="Inter"/>
              </a:rPr>
              <a:t>RECOMMENDED</a:t>
            </a:r>
          </a:p>
        </p:txBody>
      </p:sp>
      <p:sp>
        <p:nvSpPr>
          <p:cNvPr id="22" name="TextBox 21"/>
          <p:cNvSpPr txBox="1"/>
          <p:nvPr/>
        </p:nvSpPr>
        <p:spPr>
          <a:xfrm>
            <a:off x="4617720" y="1920240"/>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PROFESSIONAL</a:t>
            </a:r>
          </a:p>
        </p:txBody>
      </p:sp>
      <p:sp>
        <p:nvSpPr>
          <p:cNvPr id="23" name="TextBox 22"/>
          <p:cNvSpPr txBox="1"/>
          <p:nvPr/>
        </p:nvSpPr>
        <p:spPr>
          <a:xfrm>
            <a:off x="4617720" y="2313432"/>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4" name="Rectangle 23"/>
          <p:cNvSpPr/>
          <p:nvPr/>
        </p:nvSpPr>
        <p:spPr>
          <a:xfrm>
            <a:off x="4617720" y="274320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4617720" y="28803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46320" y="28803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7" name="TextBox 26"/>
          <p:cNvSpPr txBox="1"/>
          <p:nvPr/>
        </p:nvSpPr>
        <p:spPr>
          <a:xfrm>
            <a:off x="4617720" y="320954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46320" y="320954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9" name="TextBox 28"/>
          <p:cNvSpPr txBox="1"/>
          <p:nvPr/>
        </p:nvSpPr>
        <p:spPr>
          <a:xfrm>
            <a:off x="4617720" y="353872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0" name="TextBox 29"/>
          <p:cNvSpPr txBox="1"/>
          <p:nvPr/>
        </p:nvSpPr>
        <p:spPr>
          <a:xfrm>
            <a:off x="4846320" y="353872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31" name="TextBox 30"/>
          <p:cNvSpPr txBox="1"/>
          <p:nvPr/>
        </p:nvSpPr>
        <p:spPr>
          <a:xfrm>
            <a:off x="461772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2" name="TextBox 31"/>
          <p:cNvSpPr txBox="1"/>
          <p:nvPr/>
        </p:nvSpPr>
        <p:spPr>
          <a:xfrm>
            <a:off x="4846320" y="3867912"/>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Configurable routing + transforms</a:t>
            </a:r>
          </a:p>
        </p:txBody>
      </p:sp>
      <p:sp>
        <p:nvSpPr>
          <p:cNvPr id="33" name="Rectangle 32"/>
          <p:cNvSpPr/>
          <p:nvPr/>
        </p:nvSpPr>
        <p:spPr>
          <a:xfrm>
            <a:off x="804672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8321040" y="1920240"/>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5" name="TextBox 34"/>
          <p:cNvSpPr txBox="1"/>
          <p:nvPr/>
        </p:nvSpPr>
        <p:spPr>
          <a:xfrm>
            <a:off x="8321040" y="2313432"/>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6" name="Rectangle 35"/>
          <p:cNvSpPr/>
          <p:nvPr/>
        </p:nvSpPr>
        <p:spPr>
          <a:xfrm>
            <a:off x="8321040" y="274320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8321040" y="28803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549640" y="28803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9" name="TextBox 38"/>
          <p:cNvSpPr txBox="1"/>
          <p:nvPr/>
        </p:nvSpPr>
        <p:spPr>
          <a:xfrm>
            <a:off x="8321040" y="320954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40" name="TextBox 39"/>
          <p:cNvSpPr txBox="1"/>
          <p:nvPr/>
        </p:nvSpPr>
        <p:spPr>
          <a:xfrm>
            <a:off x="8549640" y="320954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41" name="TextBox 40"/>
          <p:cNvSpPr txBox="1"/>
          <p:nvPr/>
        </p:nvSpPr>
        <p:spPr>
          <a:xfrm>
            <a:off x="8321040" y="353872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42" name="TextBox 41"/>
          <p:cNvSpPr txBox="1"/>
          <p:nvPr/>
        </p:nvSpPr>
        <p:spPr>
          <a:xfrm>
            <a:off x="8549640" y="353872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43" name="TextBox 42"/>
          <p:cNvSpPr txBox="1"/>
          <p:nvPr/>
        </p:nvSpPr>
        <p:spPr>
          <a:xfrm>
            <a:off x="832104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44" name="TextBox 43"/>
          <p:cNvSpPr txBox="1"/>
          <p:nvPr/>
        </p:nvSpPr>
        <p:spPr>
          <a:xfrm>
            <a:off x="8549640" y="3867912"/>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Priority support + SLA</a:t>
            </a:r>
          </a:p>
        </p:txBody>
      </p:sp>
      <p:sp>
        <p:nvSpPr>
          <p:cNvPr id="45" name="TextBox 44"/>
          <p:cNvSpPr txBox="1"/>
          <p:nvPr/>
        </p:nvSpPr>
        <p:spPr>
          <a:xfrm>
            <a:off x="640080" y="452628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MT-LINKi  ·  MTConnect  ·  Brother HTTP  ·  Modbus TCP  ·  MQTT  ·  OPC UA Server</a:t>
            </a:r>
          </a:p>
        </p:txBody>
      </p:sp>
      <p:sp>
        <p:nvSpPr>
          <p:cNvPr id="46" name="Rectangle 45"/>
          <p:cNvSpPr/>
          <p:nvPr/>
        </p:nvSpPr>
        <p:spPr>
          <a:xfrm>
            <a:off x="640080" y="502920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640080" y="516636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8" name="Rounded Rectangle 47"/>
          <p:cNvSpPr/>
          <p:nvPr/>
        </p:nvSpPr>
        <p:spPr>
          <a:xfrm>
            <a:off x="117959" y="5532120"/>
            <a:ext cx="2357323" cy="457200"/>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117959" y="5532120"/>
            <a:ext cx="2357323" cy="457200"/>
          </a:xfrm>
          <a:prstGeom prst="rect">
            <a:avLst/>
          </a:prstGeom>
          <a:noFill/>
        </p:spPr>
        <p:txBody>
          <a:bodyPr wrap="square" lIns="0" rIns="0" tIns="0" bIns="0" anchor="ctr">
            <a:spAutoFit/>
          </a:bodyPr>
          <a:lstStyle/>
          <a:p>
            <a:pPr algn="ctr">
              <a:lnSpc>
                <a:spcPct val="115000"/>
              </a:lnSpc>
            </a:pPr>
            <a:r>
              <a:rPr sz="1100" b="0" i="0">
                <a:solidFill>
                  <a:srgbClr val="E8ECF1"/>
                </a:solidFill>
                <a:latin typeface="Inter"/>
              </a:rPr>
              <a:t>OPC UA Client (southbound)</a:t>
            </a:r>
          </a:p>
        </p:txBody>
      </p:sp>
      <p:sp>
        <p:nvSpPr>
          <p:cNvPr id="50" name="Rounded Rectangle 49"/>
          <p:cNvSpPr/>
          <p:nvPr/>
        </p:nvSpPr>
        <p:spPr>
          <a:xfrm>
            <a:off x="2612442" y="5532120"/>
            <a:ext cx="2129637" cy="457200"/>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2612442" y="5532120"/>
            <a:ext cx="2129637" cy="457200"/>
          </a:xfrm>
          <a:prstGeom prst="rect">
            <a:avLst/>
          </a:prstGeom>
          <a:noFill/>
        </p:spPr>
        <p:txBody>
          <a:bodyPr wrap="square" lIns="0" rIns="0" tIns="0" bIns="0" anchor="ctr">
            <a:spAutoFit/>
          </a:bodyPr>
          <a:lstStyle/>
          <a:p>
            <a:pPr algn="ctr">
              <a:lnSpc>
                <a:spcPct val="115000"/>
              </a:lnSpc>
            </a:pPr>
            <a:r>
              <a:rPr sz="1100" b="0" i="0">
                <a:solidFill>
                  <a:srgbClr val="E8ECF1"/>
                </a:solidFill>
                <a:latin typeface="Inter"/>
              </a:rPr>
              <a:t>Siemens S7 (southbound)</a:t>
            </a:r>
          </a:p>
        </p:txBody>
      </p:sp>
      <p:sp>
        <p:nvSpPr>
          <p:cNvPr id="52" name="Rounded Rectangle 51"/>
          <p:cNvSpPr/>
          <p:nvPr/>
        </p:nvSpPr>
        <p:spPr>
          <a:xfrm>
            <a:off x="4879239" y="5532120"/>
            <a:ext cx="2585008" cy="457200"/>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4879239" y="5532120"/>
            <a:ext cx="2585008" cy="457200"/>
          </a:xfrm>
          <a:prstGeom prst="rect">
            <a:avLst/>
          </a:prstGeom>
          <a:noFill/>
        </p:spPr>
        <p:txBody>
          <a:bodyPr wrap="square" lIns="0" rIns="0" tIns="0" bIns="0" anchor="ctr">
            <a:spAutoFit/>
          </a:bodyPr>
          <a:lstStyle/>
          <a:p>
            <a:pPr algn="ctr">
              <a:lnSpc>
                <a:spcPct val="115000"/>
              </a:lnSpc>
            </a:pPr>
            <a:r>
              <a:rPr sz="1100" b="0" i="0">
                <a:solidFill>
                  <a:srgbClr val="E8ECF1"/>
                </a:solidFill>
                <a:latin typeface="Inter"/>
              </a:rPr>
              <a:t>HTTP / TCP sinks (northbound)</a:t>
            </a:r>
          </a:p>
        </p:txBody>
      </p:sp>
      <p:sp>
        <p:nvSpPr>
          <p:cNvPr id="54" name="Rounded Rectangle 53"/>
          <p:cNvSpPr/>
          <p:nvPr/>
        </p:nvSpPr>
        <p:spPr>
          <a:xfrm>
            <a:off x="7601407" y="5532120"/>
            <a:ext cx="1750161" cy="457200"/>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7601407" y="5532120"/>
            <a:ext cx="1750161" cy="457200"/>
          </a:xfrm>
          <a:prstGeom prst="rect">
            <a:avLst/>
          </a:prstGeom>
          <a:noFill/>
        </p:spPr>
        <p:txBody>
          <a:bodyPr wrap="square" lIns="0" rIns="0" tIns="0" bIns="0" anchor="ctr">
            <a:spAutoFit/>
          </a:bodyPr>
          <a:lstStyle/>
          <a:p>
            <a:pPr algn="ctr">
              <a:lnSpc>
                <a:spcPct val="115000"/>
              </a:lnSpc>
            </a:pPr>
            <a:r>
              <a:rPr sz="1100" b="0" i="0">
                <a:solidFill>
                  <a:srgbClr val="E8ECF1"/>
                </a:solidFill>
                <a:latin typeface="Inter"/>
              </a:rPr>
              <a:t>Linux host support</a:t>
            </a:r>
          </a:p>
        </p:txBody>
      </p:sp>
      <p:sp>
        <p:nvSpPr>
          <p:cNvPr id="56" name="Rounded Rectangle 55"/>
          <p:cNvSpPr/>
          <p:nvPr/>
        </p:nvSpPr>
        <p:spPr>
          <a:xfrm>
            <a:off x="9488728" y="5532120"/>
            <a:ext cx="2585008" cy="457200"/>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xtBox 56"/>
          <p:cNvSpPr txBox="1"/>
          <p:nvPr/>
        </p:nvSpPr>
        <p:spPr>
          <a:xfrm>
            <a:off x="9488728" y="5532120"/>
            <a:ext cx="2585008" cy="457200"/>
          </a:xfrm>
          <a:prstGeom prst="rect">
            <a:avLst/>
          </a:prstGeom>
          <a:noFill/>
        </p:spPr>
        <p:txBody>
          <a:bodyPr wrap="square" lIns="0" rIns="0" tIns="0" bIns="0" anchor="ctr">
            <a:spAutoFit/>
          </a:bodyPr>
          <a:lstStyle/>
          <a:p>
            <a:pPr algn="ctr">
              <a:lnSpc>
                <a:spcPct val="115000"/>
              </a:lnSpc>
            </a:pPr>
            <a:r>
              <a:rPr sz="1100" b="0" i="0">
                <a:solidFill>
                  <a:srgbClr val="E8ECF1"/>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495647" y="4983480"/>
            <a:ext cx="32004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495647" y="4983480"/>
            <a:ext cx="3200400" cy="594360"/>
          </a:xfrm>
          <a:prstGeom prst="rect">
            <a:avLst/>
          </a:prstGeom>
          <a:noFill/>
        </p:spPr>
        <p:txBody>
          <a:bodyPr wrap="square" lIns="0" rIns="0" tIns="0" bIns="0" anchor="ctr">
            <a:spAutoFit/>
          </a:bodyPr>
          <a:lstStyle/>
          <a:p>
            <a:pPr algn="ctr">
              <a:lnSpc>
                <a:spcPct val="115000"/>
              </a:lnSpc>
            </a:pPr>
            <a:r>
              <a:rPr sz="1600" b="1" i="0" spc="150">
                <a:solidFill>
                  <a:srgbClr val="0F1419"/>
                </a:solidFill>
                <a:latin typeface="Inter"/>
              </a:rPr>
              <a:t>Book a scoping call</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