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slide. Open with one sentence: 'I'm going to show you how to put your whole plant — every machine, every shift, every controller — on one operational view, without ripping out anything you already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with a specific scenario: 'Your line manager finds out about a 47-minute downtime event at 6 AM the next morning, when she opens her email.' Pause. Let it 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at each bullet. Pick the one your prospect is, read it directly to them, then move on. If the prospect doesn't fit any of these five, this is the moment to qualify out gracefully.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Establish that this is two products that work together, sold and licensed independently. Don't dive into how yet — that's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Read each outcome out loud. Ask the prospect which one matters most to them right now. The answer shapes the rest of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prospect: 'How many spreadsheets does your shift handover currently depend on?' Most prospects say three to seven. That's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trust-signal slide for industrial IT buyers in the room. If you're in front of a CNC-heavy crowd, spend time on the CNC column. If you're in front of a multi-vendor fleet, spend time on the canonical-vocabulary footer line — that's the unique differentiator.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One sentence per layer. Don't dwell on the OPC UA Server box unless asked — most plant managers don't care; most SCADA engineers 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stop pitching features and start positioning category. Emphasize: 'AI proposes; humans decide' and 'A lapsed license never stops production data.' Both are credibility wins competitors can't replicate without rewriting their products.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defuses the biggest unspoken objection: 'Will this disrupt my plant?' Read the callout box verbatim. Then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editions in 30 seconds. The detail belongs in the follow-up conversation, not the pitch. The roadmap is here as a trust signal: 'We have a plan, and it serves the architecture,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end with 'Any questions?' End with 'What would the first machine look like?' That question shifts the conversation from evaluating the pitch to evaluating their own plant.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868680" y="2331720"/>
            <a:ext cx="54864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868680" y="2011680"/>
            <a:ext cx="7315200" cy="320040"/>
          </a:xfrm>
          <a:prstGeom prst="rect">
            <a:avLst/>
          </a:prstGeom>
          <a:noFill/>
        </p:spPr>
        <p:txBody>
          <a:bodyPr wrap="square" lIns="0" rIns="0" tIns="0" bIns="0" anchor="t">
            <a:spAutoFit/>
          </a:bodyPr>
          <a:lstStyle/>
          <a:p>
            <a:pPr algn="l">
              <a:lnSpc>
                <a:spcPct val="115000"/>
              </a:lnSpc>
            </a:pPr>
            <a:r>
              <a:rPr sz="1200" b="0" i="0" spc="300">
                <a:solidFill>
                  <a:srgbClr val="A8B3BD"/>
                </a:solidFill>
                <a:latin typeface="Inter"/>
              </a:rPr>
              <a:t>ELPIS IT SOLUTIONS  ·  2026</a:t>
            </a:r>
          </a:p>
        </p:txBody>
      </p:sp>
      <p:sp>
        <p:nvSpPr>
          <p:cNvPr id="4" name="TextBox 3"/>
          <p:cNvSpPr txBox="1"/>
          <p:nvPr/>
        </p:nvSpPr>
        <p:spPr>
          <a:xfrm>
            <a:off x="868680" y="2514600"/>
            <a:ext cx="10515600" cy="1280160"/>
          </a:xfrm>
          <a:prstGeom prst="rect">
            <a:avLst/>
          </a:prstGeom>
          <a:noFill/>
        </p:spPr>
        <p:txBody>
          <a:bodyPr wrap="square" lIns="0" rIns="0" tIns="0" bIns="0" anchor="t">
            <a:spAutoFit/>
          </a:bodyPr>
          <a:lstStyle/>
          <a:p>
            <a:pPr algn="l">
              <a:lnSpc>
                <a:spcPct val="105000"/>
              </a:lnSpc>
            </a:pPr>
            <a:r>
              <a:rPr sz="6000" b="1" i="0">
                <a:solidFill>
                  <a:srgbClr val="FFFFFF"/>
                </a:solidFill>
                <a:latin typeface="Inter"/>
              </a:rPr>
              <a:t>Industrial Intelligence Platform</a:t>
            </a:r>
          </a:p>
        </p:txBody>
      </p:sp>
      <p:sp>
        <p:nvSpPr>
          <p:cNvPr id="5" name="TextBox 4"/>
          <p:cNvSpPr txBox="1"/>
          <p:nvPr/>
        </p:nvSpPr>
        <p:spPr>
          <a:xfrm>
            <a:off x="868680" y="3840480"/>
            <a:ext cx="10058400" cy="914400"/>
          </a:xfrm>
          <a:prstGeom prst="rect">
            <a:avLst/>
          </a:prstGeom>
          <a:noFill/>
        </p:spPr>
        <p:txBody>
          <a:bodyPr wrap="square" lIns="0" rIns="0" tIns="0" bIns="0" anchor="t">
            <a:spAutoFit/>
          </a:bodyPr>
          <a:lstStyle/>
          <a:p>
            <a:pPr algn="l">
              <a:lnSpc>
                <a:spcPct val="130000"/>
              </a:lnSpc>
            </a:pPr>
            <a:r>
              <a:rPr sz="2200" b="0" i="1">
                <a:solidFill>
                  <a:srgbClr val="A8B3BD"/>
                </a:solidFill>
                <a:latin typeface="Inter"/>
              </a:rPr>
              <a:t>Unified industrial connectivity and operational intelligence for modern manufacturing.</a:t>
            </a:r>
          </a:p>
        </p:txBody>
      </p:sp>
      <p:sp>
        <p:nvSpPr>
          <p:cNvPr id="6" name="TextBox 5"/>
          <p:cNvSpPr txBox="1"/>
          <p:nvPr/>
        </p:nvSpPr>
        <p:spPr>
          <a:xfrm>
            <a:off x="868680" y="5577840"/>
            <a:ext cx="5486400" cy="822960"/>
          </a:xfrm>
          <a:prstGeom prst="rect">
            <a:avLst/>
          </a:prstGeom>
          <a:noFill/>
        </p:spPr>
        <p:txBody>
          <a:bodyPr wrap="square" lIns="0" rIns="0" tIns="0" bIns="0" anchor="t">
            <a:spAutoFit/>
          </a:bodyPr>
          <a:lstStyle/>
          <a:p>
            <a:pPr algn="l">
              <a:lnSpc>
                <a:spcPct val="140000"/>
              </a:lnSpc>
            </a:pPr>
            <a:r>
              <a:rPr sz="1100" b="0" i="0">
                <a:solidFill>
                  <a:srgbClr val="A8B3BD"/>
                </a:solidFill>
                <a:latin typeface="Inter"/>
              </a:rPr>
              <a:t>Presented by</a:t>
            </a:r>
          </a:p>
          <a:p>
            <a:pPr algn="l">
              <a:lnSpc>
                <a:spcPct val="140000"/>
              </a:lnSpc>
            </a:pPr>
            <a:r>
              <a:rPr sz="1600" b="1" i="0">
                <a:solidFill>
                  <a:srgbClr val="E8ECF1"/>
                </a:solidFill>
                <a:latin typeface="Inter"/>
              </a:rPr>
              <a:t>[ Presenter Name ]</a:t>
            </a:r>
          </a:p>
          <a:p>
            <a:pPr algn="l">
              <a:lnSpc>
                <a:spcPct val="140000"/>
              </a:lnSpc>
            </a:pPr>
            <a:r>
              <a:rPr sz="1200" b="0" i="0">
                <a:solidFill>
                  <a:srgbClr val="A8B3BD"/>
                </a:solidFill>
                <a:latin typeface="Inter"/>
              </a:rPr>
              <a:t>[ Role ]  ·  [ Date ]</a:t>
            </a:r>
          </a:p>
        </p:txBody>
      </p:sp>
      <p:sp>
        <p:nvSpPr>
          <p:cNvPr id="7" name="TextBox 6"/>
          <p:cNvSpPr txBox="1"/>
          <p:nvPr/>
        </p:nvSpPr>
        <p:spPr>
          <a:xfrm>
            <a:off x="10424160" y="5852160"/>
            <a:ext cx="1371600" cy="457200"/>
          </a:xfrm>
          <a:prstGeom prst="rect">
            <a:avLst/>
          </a:prstGeom>
          <a:noFill/>
        </p:spPr>
        <p:txBody>
          <a:bodyPr wrap="square" lIns="0" rIns="0" tIns="0" bIns="0" anchor="t">
            <a:spAutoFit/>
          </a:bodyPr>
          <a:lstStyle/>
          <a:p>
            <a:pPr algn="r">
              <a:lnSpc>
                <a:spcPct val="115000"/>
              </a:lnSpc>
            </a:pPr>
            <a:r>
              <a:rPr sz="2400" b="1" i="0" spc="400">
                <a:solidFill>
                  <a:srgbClr val="00A0E0"/>
                </a:solidFill>
                <a:latin typeface="Inter"/>
              </a:rPr>
              <a:t>ELPIS</a:t>
            </a:r>
          </a:p>
        </p:txBody>
      </p:sp>
      <p:sp>
        <p:nvSpPr>
          <p:cNvPr id="8" name="TextBox 7"/>
          <p:cNvSpPr txBox="1"/>
          <p:nvPr/>
        </p:nvSpPr>
        <p:spPr>
          <a:xfrm>
            <a:off x="9144000" y="6217920"/>
            <a:ext cx="2651760" cy="274320"/>
          </a:xfrm>
          <a:prstGeom prst="rect">
            <a:avLst/>
          </a:prstGeom>
          <a:noFill/>
        </p:spPr>
        <p:txBody>
          <a:bodyPr wrap="square" lIns="0" rIns="0" tIns="0" bIns="0" anchor="t">
            <a:spAutoFit/>
          </a:bodyPr>
          <a:lstStyle/>
          <a:p>
            <a:pPr algn="r">
              <a:lnSpc>
                <a:spcPct val="115000"/>
              </a:lnSpc>
            </a:pPr>
            <a:r>
              <a:rPr sz="800" b="0" i="0" spc="200">
                <a:solidFill>
                  <a:srgbClr val="A8B3BD"/>
                </a:solidFill>
                <a:latin typeface="Inter"/>
              </a:rPr>
              <a:t>THINK · CREATE · ENABLE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02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PROBLEM</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4000" b="1" i="0">
                <a:solidFill>
                  <a:srgbClr val="FFFFFF"/>
                </a:solidFill>
                <a:latin typeface="Inter"/>
              </a:rPr>
              <a:t>The data is already on the floor.</a:t>
            </a:r>
          </a:p>
        </p:txBody>
      </p:sp>
      <p:sp>
        <p:nvSpPr>
          <p:cNvPr id="7" name="Oval 6"/>
          <p:cNvSpPr/>
          <p:nvPr/>
        </p:nvSpPr>
        <p:spPr>
          <a:xfrm>
            <a:off x="640080" y="249631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233172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Fanuc, Brother, Siemens, energy meters</a:t>
            </a:r>
          </a:p>
        </p:txBody>
      </p:sp>
      <p:sp>
        <p:nvSpPr>
          <p:cNvPr id="9" name="TextBox 8"/>
          <p:cNvSpPr txBox="1"/>
          <p:nvPr/>
        </p:nvSpPr>
        <p:spPr>
          <a:xfrm>
            <a:off x="1005840" y="278892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Each speaks a different language.</a:t>
            </a:r>
          </a:p>
        </p:txBody>
      </p:sp>
      <p:sp>
        <p:nvSpPr>
          <p:cNvPr id="10" name="Oval 9"/>
          <p:cNvSpPr/>
          <p:nvPr/>
        </p:nvSpPr>
        <p:spPr>
          <a:xfrm>
            <a:off x="640080" y="368503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05840" y="352044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OEE numbers stitched together from spreadsheets</a:t>
            </a:r>
          </a:p>
        </p:txBody>
      </p:sp>
      <p:sp>
        <p:nvSpPr>
          <p:cNvPr id="12" name="TextBox 11"/>
          <p:cNvSpPr txBox="1"/>
          <p:nvPr/>
        </p:nvSpPr>
        <p:spPr>
          <a:xfrm>
            <a:off x="1005840" y="397764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And from operator memory at the end of the shift.</a:t>
            </a:r>
          </a:p>
        </p:txBody>
      </p:sp>
      <p:sp>
        <p:nvSpPr>
          <p:cNvPr id="13" name="Oval 12"/>
          <p:cNvSpPr/>
          <p:nvPr/>
        </p:nvSpPr>
        <p:spPr>
          <a:xfrm>
            <a:off x="640080" y="4873752"/>
            <a:ext cx="164592" cy="164592"/>
          </a:xfrm>
          <a:prstGeom prst="ellips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1005840" y="4709160"/>
            <a:ext cx="5303520" cy="411480"/>
          </a:xfrm>
          <a:prstGeom prst="rect">
            <a:avLst/>
          </a:prstGeom>
          <a:noFill/>
        </p:spPr>
        <p:txBody>
          <a:bodyPr wrap="square" lIns="0" rIns="0" tIns="0" bIns="0" anchor="t">
            <a:spAutoFit/>
          </a:bodyPr>
          <a:lstStyle/>
          <a:p>
            <a:pPr algn="l">
              <a:lnSpc>
                <a:spcPct val="120000"/>
              </a:lnSpc>
            </a:pPr>
            <a:r>
              <a:rPr sz="1800" b="1" i="0">
                <a:solidFill>
                  <a:srgbClr val="E8ECF1"/>
                </a:solidFill>
                <a:latin typeface="Inter"/>
              </a:rPr>
              <a:t>Downtime detected in hindsight</a:t>
            </a:r>
          </a:p>
        </p:txBody>
      </p:sp>
      <p:sp>
        <p:nvSpPr>
          <p:cNvPr id="15" name="TextBox 14"/>
          <p:cNvSpPr txBox="1"/>
          <p:nvPr/>
        </p:nvSpPr>
        <p:spPr>
          <a:xfrm>
            <a:off x="1005840" y="5166360"/>
            <a:ext cx="5303520" cy="411480"/>
          </a:xfrm>
          <a:prstGeom prst="rect">
            <a:avLst/>
          </a:prstGeom>
          <a:noFill/>
        </p:spPr>
        <p:txBody>
          <a:bodyPr wrap="square" lIns="0" rIns="0" tIns="0" bIns="0" anchor="t">
            <a:spAutoFit/>
          </a:bodyPr>
          <a:lstStyle/>
          <a:p>
            <a:pPr algn="l">
              <a:lnSpc>
                <a:spcPct val="130000"/>
              </a:lnSpc>
            </a:pPr>
            <a:r>
              <a:rPr sz="1500" b="0" i="0">
                <a:solidFill>
                  <a:srgbClr val="A8B3BD"/>
                </a:solidFill>
                <a:latin typeface="Inter"/>
              </a:rPr>
              <a:t>Not in the moment it happens.</a:t>
            </a:r>
          </a:p>
        </p:txBody>
      </p:sp>
      <p:sp>
        <p:nvSpPr>
          <p:cNvPr id="16" name="Rectangle 15"/>
          <p:cNvSpPr/>
          <p:nvPr/>
        </p:nvSpPr>
        <p:spPr>
          <a:xfrm>
            <a:off x="6355080" y="2194560"/>
            <a:ext cx="18288" cy="3200400"/>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83680" y="2331720"/>
            <a:ext cx="4937760" cy="3291840"/>
          </a:xfrm>
          <a:prstGeom prst="rect">
            <a:avLst/>
          </a:prstGeom>
          <a:noFill/>
        </p:spPr>
        <p:txBody>
          <a:bodyPr wrap="square" lIns="0" rIns="0" tIns="0" bIns="0" anchor="t">
            <a:spAutoFit/>
          </a:bodyPr>
          <a:lstStyle/>
          <a:p>
            <a:pPr algn="l">
              <a:lnSpc>
                <a:spcPct val="120000"/>
              </a:lnSpc>
              <a:spcAft>
                <a:spcPts val="400"/>
              </a:spcAft>
            </a:pPr>
            <a:r>
              <a:rPr sz="3000" b="0" i="1">
                <a:solidFill>
                  <a:srgbClr val="A8B3BD"/>
                </a:solidFill>
                <a:latin typeface="Inter"/>
              </a:rPr>
              <a:t>Plants don't have a</a:t>
            </a:r>
          </a:p>
          <a:p>
            <a:pPr algn="l">
              <a:lnSpc>
                <a:spcPct val="120000"/>
              </a:lnSpc>
              <a:spcAft>
                <a:spcPts val="400"/>
              </a:spcAft>
            </a:pPr>
            <a:r>
              <a:rPr sz="3400" b="1" i="0">
                <a:solidFill>
                  <a:srgbClr val="FFFFFF"/>
                </a:solidFill>
                <a:latin typeface="Inter"/>
              </a:rPr>
              <a:t>data problem.</a:t>
            </a:r>
          </a:p>
          <a:p>
            <a:pPr algn="l">
              <a:lnSpc>
                <a:spcPct val="120000"/>
              </a:lnSpc>
              <a:spcAft>
                <a:spcPts val="400"/>
              </a:spcAft>
            </a:pPr>
            <a:r>
              <a:rPr sz="3000" b="0" i="1">
                <a:solidFill>
                  <a:srgbClr val="A8B3BD"/>
                </a:solidFill>
                <a:latin typeface="Inter"/>
              </a:rPr>
              <a:t>They have a</a:t>
            </a:r>
          </a:p>
          <a:p>
            <a:pPr algn="l">
              <a:lnSpc>
                <a:spcPct val="120000"/>
              </a:lnSpc>
              <a:spcAft>
                <a:spcPts val="400"/>
              </a:spcAft>
            </a:pPr>
            <a:r>
              <a:rPr sz="3400" b="1" i="0">
                <a:solidFill>
                  <a:srgbClr val="00A0E0"/>
                </a:solidFill>
                <a:latin typeface="Inter"/>
              </a:rPr>
              <a:t>decision problem.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03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DESIGNED FOR</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600" b="1" i="0">
                <a:solidFill>
                  <a:srgbClr val="FFFFFF"/>
                </a:solidFill>
                <a:latin typeface="Inter"/>
              </a:rPr>
              <a:t>Five places this platform was built for.</a:t>
            </a:r>
          </a:p>
        </p:txBody>
      </p:sp>
      <p:sp>
        <p:nvSpPr>
          <p:cNvPr id="7" name="TextBox 6"/>
          <p:cNvSpPr txBox="1"/>
          <p:nvPr/>
        </p:nvSpPr>
        <p:spPr>
          <a:xfrm>
            <a:off x="640080" y="187451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01</a:t>
            </a:r>
          </a:p>
        </p:txBody>
      </p:sp>
      <p:sp>
        <p:nvSpPr>
          <p:cNvPr id="8" name="TextBox 7"/>
          <p:cNvSpPr txBox="1"/>
          <p:nvPr/>
        </p:nvSpPr>
        <p:spPr>
          <a:xfrm>
            <a:off x="1691640" y="187451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Multi-vendor CNC manufacturing plants</a:t>
            </a:r>
          </a:p>
        </p:txBody>
      </p:sp>
      <p:sp>
        <p:nvSpPr>
          <p:cNvPr id="9" name="TextBox 8"/>
          <p:cNvSpPr txBox="1"/>
          <p:nvPr/>
        </p:nvSpPr>
        <p:spPr>
          <a:xfrm>
            <a:off x="1691640" y="225856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Mixed Fanuc, Brother, Mazak fleets on a single operational view.</a:t>
            </a:r>
          </a:p>
        </p:txBody>
      </p:sp>
      <p:sp>
        <p:nvSpPr>
          <p:cNvPr id="10" name="Rectangle 9"/>
          <p:cNvSpPr/>
          <p:nvPr/>
        </p:nvSpPr>
        <p:spPr>
          <a:xfrm>
            <a:off x="1691640" y="265175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2743200"/>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02</a:t>
            </a:r>
          </a:p>
        </p:txBody>
      </p:sp>
      <p:sp>
        <p:nvSpPr>
          <p:cNvPr id="12" name="TextBox 11"/>
          <p:cNvSpPr txBox="1"/>
          <p:nvPr/>
        </p:nvSpPr>
        <p:spPr>
          <a:xfrm>
            <a:off x="1691640" y="2743200"/>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Brownfield modernization projects</a:t>
            </a:r>
          </a:p>
        </p:txBody>
      </p:sp>
      <p:sp>
        <p:nvSpPr>
          <p:cNvPr id="13" name="TextBox 12"/>
          <p:cNvSpPr txBox="1"/>
          <p:nvPr/>
        </p:nvSpPr>
        <p:spPr>
          <a:xfrm>
            <a:off x="1691640" y="3127248"/>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Older controllers brought into a modern analytics stack — the iron stays.</a:t>
            </a:r>
          </a:p>
        </p:txBody>
      </p:sp>
      <p:sp>
        <p:nvSpPr>
          <p:cNvPr id="14" name="Rectangle 13"/>
          <p:cNvSpPr/>
          <p:nvPr/>
        </p:nvSpPr>
        <p:spPr>
          <a:xfrm>
            <a:off x="1691640" y="3520440"/>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611879"/>
            <a:ext cx="914400" cy="640080"/>
          </a:xfrm>
          <a:prstGeom prst="rect">
            <a:avLst/>
          </a:prstGeom>
          <a:noFill/>
        </p:spPr>
        <p:txBody>
          <a:bodyPr wrap="square" lIns="0" rIns="0" tIns="0" bIns="0" anchor="ctr">
            <a:spAutoFit/>
          </a:bodyPr>
          <a:lstStyle/>
          <a:p>
            <a:pPr algn="l">
              <a:lnSpc>
                <a:spcPct val="115000"/>
              </a:lnSpc>
            </a:pPr>
            <a:r>
              <a:rPr sz="3000" b="1" i="0">
                <a:solidFill>
                  <a:srgbClr val="00A0E0"/>
                </a:solidFill>
                <a:latin typeface="Inter"/>
              </a:rPr>
              <a:t>03</a:t>
            </a:r>
          </a:p>
        </p:txBody>
      </p:sp>
      <p:sp>
        <p:nvSpPr>
          <p:cNvPr id="16" name="TextBox 15"/>
          <p:cNvSpPr txBox="1"/>
          <p:nvPr/>
        </p:nvSpPr>
        <p:spPr>
          <a:xfrm>
            <a:off x="1691640" y="3611879"/>
            <a:ext cx="6858000" cy="365760"/>
          </a:xfrm>
          <a:prstGeom prst="rect">
            <a:avLst/>
          </a:prstGeom>
          <a:noFill/>
        </p:spPr>
        <p:txBody>
          <a:bodyPr wrap="square" lIns="0" rIns="0" tIns="0" bIns="0" anchor="t">
            <a:spAutoFit/>
          </a:bodyPr>
          <a:lstStyle/>
          <a:p>
            <a:pPr algn="l">
              <a:lnSpc>
                <a:spcPct val="115000"/>
              </a:lnSpc>
            </a:pPr>
            <a:r>
              <a:rPr sz="1900" b="1" i="0">
                <a:solidFill>
                  <a:srgbClr val="E8ECF1"/>
                </a:solidFill>
                <a:latin typeface="Inter"/>
              </a:rPr>
              <a:t>Multi-site industrial operations teams</a:t>
            </a:r>
          </a:p>
        </p:txBody>
      </p:sp>
      <p:sp>
        <p:nvSpPr>
          <p:cNvPr id="17" name="TextBox 16"/>
          <p:cNvSpPr txBox="1"/>
          <p:nvPr/>
        </p:nvSpPr>
        <p:spPr>
          <a:xfrm>
            <a:off x="1691640" y="3995927"/>
            <a:ext cx="9601200" cy="32004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Fleet coherence across plants with one EREMOS V2 tenant.</a:t>
            </a:r>
          </a:p>
        </p:txBody>
      </p:sp>
      <p:sp>
        <p:nvSpPr>
          <p:cNvPr id="18" name="Rectangle 17"/>
          <p:cNvSpPr/>
          <p:nvPr/>
        </p:nvSpPr>
        <p:spPr>
          <a:xfrm>
            <a:off x="1691640" y="438911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480559"/>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04</a:t>
            </a:r>
          </a:p>
        </p:txBody>
      </p:sp>
      <p:sp>
        <p:nvSpPr>
          <p:cNvPr id="20" name="TextBox 19"/>
          <p:cNvSpPr txBox="1"/>
          <p:nvPr/>
        </p:nvSpPr>
        <p:spPr>
          <a:xfrm>
            <a:off x="1691640" y="4480559"/>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OEM machine monitoring deployments</a:t>
            </a:r>
          </a:p>
        </p:txBody>
      </p:sp>
      <p:sp>
        <p:nvSpPr>
          <p:cNvPr id="21" name="TextBox 20"/>
          <p:cNvSpPr txBox="1"/>
          <p:nvPr/>
        </p:nvSpPr>
        <p:spPr>
          <a:xfrm>
            <a:off x="1691640" y="4864607"/>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Trust-respecting telemetry on machines deployed at customer sites.</a:t>
            </a:r>
          </a:p>
        </p:txBody>
      </p:sp>
      <p:sp>
        <p:nvSpPr>
          <p:cNvPr id="22" name="Rectangle 21"/>
          <p:cNvSpPr/>
          <p:nvPr/>
        </p:nvSpPr>
        <p:spPr>
          <a:xfrm>
            <a:off x="1691640" y="5257799"/>
            <a:ext cx="96012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349240"/>
            <a:ext cx="914400" cy="640080"/>
          </a:xfrm>
          <a:prstGeom prst="rect">
            <a:avLst/>
          </a:prstGeom>
          <a:noFill/>
        </p:spPr>
        <p:txBody>
          <a:bodyPr wrap="square" lIns="0" rIns="0" tIns="0" bIns="0" anchor="ctr">
            <a:spAutoFit/>
          </a:bodyPr>
          <a:lstStyle/>
          <a:p>
            <a:pPr algn="l">
              <a:lnSpc>
                <a:spcPct val="115000"/>
              </a:lnSpc>
            </a:pPr>
            <a:r>
              <a:rPr sz="3000" b="1" i="0">
                <a:solidFill>
                  <a:srgbClr val="5E6B78"/>
                </a:solidFill>
                <a:latin typeface="Inter"/>
              </a:rPr>
              <a:t>05</a:t>
            </a:r>
          </a:p>
        </p:txBody>
      </p:sp>
      <p:sp>
        <p:nvSpPr>
          <p:cNvPr id="24" name="TextBox 23"/>
          <p:cNvSpPr txBox="1"/>
          <p:nvPr/>
        </p:nvSpPr>
        <p:spPr>
          <a:xfrm>
            <a:off x="1691640" y="5349240"/>
            <a:ext cx="6858000" cy="365760"/>
          </a:xfrm>
          <a:prstGeom prst="rect">
            <a:avLst/>
          </a:prstGeom>
          <a:noFill/>
        </p:spPr>
        <p:txBody>
          <a:bodyPr wrap="square" lIns="0" rIns="0" tIns="0" bIns="0" anchor="t">
            <a:spAutoFit/>
          </a:bodyPr>
          <a:lstStyle/>
          <a:p>
            <a:pPr algn="l">
              <a:lnSpc>
                <a:spcPct val="115000"/>
              </a:lnSpc>
            </a:pPr>
            <a:r>
              <a:rPr sz="1600" b="1" i="0">
                <a:solidFill>
                  <a:srgbClr val="A8B3BD"/>
                </a:solidFill>
                <a:latin typeface="Inter"/>
              </a:rPr>
              <a:t>Automotive parts and precision machining operations</a:t>
            </a:r>
          </a:p>
        </p:txBody>
      </p:sp>
      <p:sp>
        <p:nvSpPr>
          <p:cNvPr id="25" name="TextBox 24"/>
          <p:cNvSpPr txBox="1"/>
          <p:nvPr/>
        </p:nvSpPr>
        <p:spPr>
          <a:xfrm>
            <a:off x="1691640" y="5733288"/>
            <a:ext cx="9601200" cy="320040"/>
          </a:xfrm>
          <a:prstGeom prst="rect">
            <a:avLst/>
          </a:prstGeom>
          <a:noFill/>
        </p:spPr>
        <p:txBody>
          <a:bodyPr wrap="square" lIns="0" rIns="0" tIns="0" bIns="0" anchor="t">
            <a:spAutoFit/>
          </a:bodyPr>
          <a:lstStyle/>
          <a:p>
            <a:pPr algn="l">
              <a:lnSpc>
                <a:spcPct val="115000"/>
              </a:lnSpc>
            </a:pPr>
            <a:r>
              <a:rPr sz="1200" b="0" i="0">
                <a:solidFill>
                  <a:srgbClr val="5E6B78"/>
                </a:solidFill>
                <a:latin typeface="Inter"/>
              </a:rPr>
              <a:t>Tier-2 suppliers needing audit-defensible OEE and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04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THE SOLUTION</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Two products. One platform. One operational view.</a:t>
            </a:r>
          </a:p>
        </p:txBody>
      </p:sp>
      <p:sp>
        <p:nvSpPr>
          <p:cNvPr id="7" name="Rectangle 6"/>
          <p:cNvSpPr/>
          <p:nvPr/>
        </p:nvSpPr>
        <p:spPr>
          <a:xfrm>
            <a:off x="640080" y="2194560"/>
            <a:ext cx="4389120" cy="3291840"/>
          </a:xfrm>
          <a:prstGeom prst="rect">
            <a:avLst/>
          </a:prstGeom>
          <a:solidFill>
            <a:srgbClr val="2A2F36"/>
          </a:solidFill>
          <a:ln>
            <a:solidFill>
              <a:srgbClr val="5E6B7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96012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EdgeConnect</a:t>
            </a:r>
          </a:p>
        </p:txBody>
      </p:sp>
      <p:sp>
        <p:nvSpPr>
          <p:cNvPr id="10" name="TextBox 9"/>
          <p:cNvSpPr txBox="1"/>
          <p:nvPr/>
        </p:nvSpPr>
        <p:spPr>
          <a:xfrm>
            <a:off x="96012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Edge runtime</a:t>
            </a:r>
          </a:p>
        </p:txBody>
      </p:sp>
      <p:sp>
        <p:nvSpPr>
          <p:cNvPr id="11" name="Rectangle 10"/>
          <p:cNvSpPr/>
          <p:nvPr/>
        </p:nvSpPr>
        <p:spPr>
          <a:xfrm>
            <a:off x="96012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6012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Collects from every controller on your floor.</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Canonical data pipeline. Per-route store-and-forward. Three-way diagnostics. Signed offline licensing. Deploys per plant — one per site.</a:t>
            </a:r>
          </a:p>
        </p:txBody>
      </p:sp>
      <p:sp>
        <p:nvSpPr>
          <p:cNvPr id="13" name="Rectangle 12"/>
          <p:cNvSpPr/>
          <p:nvPr/>
        </p:nvSpPr>
        <p:spPr>
          <a:xfrm>
            <a:off x="7178040" y="2194560"/>
            <a:ext cx="4389120" cy="32918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7498080" y="2514600"/>
            <a:ext cx="36576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498080" y="2697480"/>
            <a:ext cx="3840480" cy="640080"/>
          </a:xfrm>
          <a:prstGeom prst="rect">
            <a:avLst/>
          </a:prstGeom>
          <a:noFill/>
        </p:spPr>
        <p:txBody>
          <a:bodyPr wrap="square" lIns="0" rIns="0" tIns="0" bIns="0" anchor="t">
            <a:spAutoFit/>
          </a:bodyPr>
          <a:lstStyle/>
          <a:p>
            <a:pPr algn="l">
              <a:lnSpc>
                <a:spcPct val="115000"/>
              </a:lnSpc>
            </a:pPr>
            <a:r>
              <a:rPr sz="3400" b="1" i="0">
                <a:solidFill>
                  <a:srgbClr val="FFFFFF"/>
                </a:solidFill>
                <a:latin typeface="Inter"/>
              </a:rPr>
              <a:t>EREMOS V2</a:t>
            </a:r>
          </a:p>
        </p:txBody>
      </p:sp>
      <p:sp>
        <p:nvSpPr>
          <p:cNvPr id="16" name="TextBox 15"/>
          <p:cNvSpPr txBox="1"/>
          <p:nvPr/>
        </p:nvSpPr>
        <p:spPr>
          <a:xfrm>
            <a:off x="7498080" y="3291840"/>
            <a:ext cx="3840480" cy="365760"/>
          </a:xfrm>
          <a:prstGeom prst="rect">
            <a:avLst/>
          </a:prstGeom>
          <a:noFill/>
        </p:spPr>
        <p:txBody>
          <a:bodyPr wrap="square" lIns="0" rIns="0" tIns="0" bIns="0" anchor="t">
            <a:spAutoFit/>
          </a:bodyPr>
          <a:lstStyle/>
          <a:p>
            <a:pPr algn="l">
              <a:lnSpc>
                <a:spcPct val="115000"/>
              </a:lnSpc>
            </a:pPr>
            <a:r>
              <a:rPr sz="1500" b="0" i="1">
                <a:solidFill>
                  <a:srgbClr val="A8B3BD"/>
                </a:solidFill>
                <a:latin typeface="Inter"/>
              </a:rPr>
              <a:t>Industrial intelligence</a:t>
            </a:r>
          </a:p>
        </p:txBody>
      </p:sp>
      <p:sp>
        <p:nvSpPr>
          <p:cNvPr id="17" name="Rectangle 16"/>
          <p:cNvSpPr/>
          <p:nvPr/>
        </p:nvSpPr>
        <p:spPr>
          <a:xfrm>
            <a:off x="7498080" y="3749040"/>
            <a:ext cx="3749039"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498080" y="3886200"/>
            <a:ext cx="3749039" cy="1463040"/>
          </a:xfrm>
          <a:prstGeom prst="rect">
            <a:avLst/>
          </a:prstGeom>
          <a:noFill/>
        </p:spPr>
        <p:txBody>
          <a:bodyPr wrap="square" lIns="0" rIns="0" tIns="0" bIns="0" anchor="t">
            <a:spAutoFit/>
          </a:bodyPr>
          <a:lstStyle/>
          <a:p>
            <a:pPr algn="l">
              <a:lnSpc>
                <a:spcPct val="140000"/>
              </a:lnSpc>
            </a:pPr>
            <a:r>
              <a:rPr sz="1400" b="0" i="0">
                <a:solidFill>
                  <a:srgbClr val="E8ECF1"/>
                </a:solidFill>
                <a:latin typeface="Inter"/>
              </a:rPr>
              <a:t>Turns that data into OEE, alarms, incidents, and reports.</a:t>
            </a:r>
          </a:p>
          <a:p>
            <a:pPr algn="l">
              <a:lnSpc>
                <a:spcPct val="140000"/>
              </a:lnSpc>
            </a:pPr>
            <a:r>
              <a:rPr sz="600" b="0" i="0">
                <a:solidFill>
                  <a:srgbClr val="E8ECF1"/>
                </a:solidFill>
                <a:latin typeface="Inter"/>
              </a:rPr>
              <a:t> </a:t>
            </a:r>
          </a:p>
          <a:p>
            <a:pPr algn="l">
              <a:lnSpc>
                <a:spcPct val="140000"/>
              </a:lnSpc>
            </a:pPr>
            <a:r>
              <a:rPr sz="1300" b="0" i="1">
                <a:solidFill>
                  <a:srgbClr val="A8B3BD"/>
                </a:solidFill>
                <a:latin typeface="Inter"/>
              </a:rPr>
              <a:t>Multi-tenant analytics. OEE via Segments. Persistent alarm + incident workflow. Configurable alerting. PDF / Excel reports. Tool-life · tag mapping.</a:t>
            </a:r>
          </a:p>
        </p:txBody>
      </p:sp>
      <p:sp>
        <p:nvSpPr>
          <p:cNvPr id="19" name="Rectangle 18"/>
          <p:cNvSpPr/>
          <p:nvPr/>
        </p:nvSpPr>
        <p:spPr>
          <a:xfrm>
            <a:off x="5074920" y="3849624"/>
            <a:ext cx="2057400" cy="54864"/>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ight Triangle 19"/>
          <p:cNvSpPr/>
          <p:nvPr/>
        </p:nvSpPr>
        <p:spPr>
          <a:xfrm>
            <a:off x="6967728" y="3776472"/>
            <a:ext cx="201168" cy="201168"/>
          </a:xfrm>
          <a:prstGeom prst="rtTriangle">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74920" y="3291840"/>
            <a:ext cx="2057400" cy="365760"/>
          </a:xfrm>
          <a:prstGeom prst="rect">
            <a:avLst/>
          </a:prstGeom>
          <a:noFill/>
        </p:spPr>
        <p:txBody>
          <a:bodyPr wrap="square" lIns="0" rIns="0" tIns="0" bIns="0" anchor="t">
            <a:spAutoFit/>
          </a:bodyPr>
          <a:lstStyle/>
          <a:p>
            <a:pPr algn="ctr">
              <a:lnSpc>
                <a:spcPct val="115000"/>
              </a:lnSpc>
            </a:pPr>
            <a:r>
              <a:rPr sz="1100" b="1" i="0" spc="300">
                <a:solidFill>
                  <a:srgbClr val="00A0E0"/>
                </a:solidFill>
                <a:latin typeface="Inter"/>
              </a:rPr>
              <a:t>MQTT  ·  OPC UA</a:t>
            </a:r>
          </a:p>
        </p:txBody>
      </p:sp>
      <p:sp>
        <p:nvSpPr>
          <p:cNvPr id="22" name="TextBox 21"/>
          <p:cNvSpPr txBox="1"/>
          <p:nvPr/>
        </p:nvSpPr>
        <p:spPr>
          <a:xfrm>
            <a:off x="640080" y="5806440"/>
            <a:ext cx="10881360" cy="457200"/>
          </a:xfrm>
          <a:prstGeom prst="rect">
            <a:avLst/>
          </a:prstGeom>
          <a:noFill/>
        </p:spPr>
        <p:txBody>
          <a:bodyPr wrap="square" lIns="0" rIns="0" tIns="0" bIns="0" anchor="t">
            <a:spAutoFit/>
          </a:bodyPr>
          <a:lstStyle/>
          <a:p>
            <a:pPr algn="ctr">
              <a:lnSpc>
                <a:spcPct val="115000"/>
              </a:lnSpc>
            </a:pPr>
            <a:r>
              <a:rPr sz="1800" b="0" i="1">
                <a:solidFill>
                  <a:srgbClr val="C8D0D8"/>
                </a:solidFill>
                <a:latin typeface="Inter"/>
              </a:rPr>
              <a:t>From the spindle to the dashboard, on one foundation.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05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OUTCOMES YOU CAN HOLD US TO</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Six concrete outcomes. Operational deliverables — not promises.</a:t>
            </a:r>
          </a:p>
        </p:txBody>
      </p:sp>
      <p:sp>
        <p:nvSpPr>
          <p:cNvPr id="7" name="Rectangle 6"/>
          <p:cNvSpPr/>
          <p:nvPr/>
        </p:nvSpPr>
        <p:spPr>
          <a:xfrm>
            <a:off x="64008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ectangle 7"/>
          <p:cNvSpPr/>
          <p:nvPr/>
        </p:nvSpPr>
        <p:spPr>
          <a:xfrm>
            <a:off x="64008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6012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Cut unplanned downtime</a:t>
            </a:r>
          </a:p>
        </p:txBody>
      </p:sp>
      <p:sp>
        <p:nvSpPr>
          <p:cNvPr id="10" name="TextBox 9"/>
          <p:cNvSpPr txBox="1"/>
          <p:nvPr/>
        </p:nvSpPr>
        <p:spPr>
          <a:xfrm>
            <a:off x="96012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Persistent alarm tracking and incident workflows.</a:t>
            </a:r>
          </a:p>
        </p:txBody>
      </p:sp>
      <p:sp>
        <p:nvSpPr>
          <p:cNvPr id="11" name="Rectangle 10"/>
          <p:cNvSpPr/>
          <p:nvPr/>
        </p:nvSpPr>
        <p:spPr>
          <a:xfrm>
            <a:off x="6172200" y="219456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6172200" y="219456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92240" y="242316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Trust your OEE number</a:t>
            </a:r>
          </a:p>
        </p:txBody>
      </p:sp>
      <p:sp>
        <p:nvSpPr>
          <p:cNvPr id="14" name="TextBox 13"/>
          <p:cNvSpPr txBox="1"/>
          <p:nvPr/>
        </p:nvSpPr>
        <p:spPr>
          <a:xfrm>
            <a:off x="6492240" y="288036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Every input collected at the controller.</a:t>
            </a:r>
          </a:p>
        </p:txBody>
      </p:sp>
      <p:sp>
        <p:nvSpPr>
          <p:cNvPr id="15" name="Rectangle 14"/>
          <p:cNvSpPr/>
          <p:nvPr/>
        </p:nvSpPr>
        <p:spPr>
          <a:xfrm>
            <a:off x="64008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64008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012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Modernize legacy controllers</a:t>
            </a:r>
          </a:p>
        </p:txBody>
      </p:sp>
      <p:sp>
        <p:nvSpPr>
          <p:cNvPr id="18" name="TextBox 17"/>
          <p:cNvSpPr txBox="1"/>
          <p:nvPr/>
        </p:nvSpPr>
        <p:spPr>
          <a:xfrm>
            <a:off x="96012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No replacements required.</a:t>
            </a:r>
          </a:p>
        </p:txBody>
      </p:sp>
      <p:sp>
        <p:nvSpPr>
          <p:cNvPr id="19" name="Rectangle 18"/>
          <p:cNvSpPr/>
          <p:nvPr/>
        </p:nvSpPr>
        <p:spPr>
          <a:xfrm>
            <a:off x="6172200" y="361188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172200" y="361188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92240" y="384048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See your whole fleet</a:t>
            </a:r>
          </a:p>
        </p:txBody>
      </p:sp>
      <p:sp>
        <p:nvSpPr>
          <p:cNvPr id="22" name="TextBox 21"/>
          <p:cNvSpPr txBox="1"/>
          <p:nvPr/>
        </p:nvSpPr>
        <p:spPr>
          <a:xfrm>
            <a:off x="6492240" y="429768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Multiple plants, one operational view.</a:t>
            </a:r>
          </a:p>
        </p:txBody>
      </p:sp>
      <p:sp>
        <p:nvSpPr>
          <p:cNvPr id="23" name="Rectangle 22"/>
          <p:cNvSpPr/>
          <p:nvPr/>
        </p:nvSpPr>
        <p:spPr>
          <a:xfrm>
            <a:off x="64008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4008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6012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Keep sensitive data where it belongs</a:t>
            </a:r>
          </a:p>
        </p:txBody>
      </p:sp>
      <p:sp>
        <p:nvSpPr>
          <p:cNvPr id="26" name="TextBox 25"/>
          <p:cNvSpPr txBox="1"/>
          <p:nvPr/>
        </p:nvSpPr>
        <p:spPr>
          <a:xfrm>
            <a:off x="96012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Fully offline-capable at the edge.</a:t>
            </a:r>
          </a:p>
        </p:txBody>
      </p:sp>
      <p:sp>
        <p:nvSpPr>
          <p:cNvPr id="27" name="Rectangle 26"/>
          <p:cNvSpPr/>
          <p:nvPr/>
        </p:nvSpPr>
        <p:spPr>
          <a:xfrm>
            <a:off x="6172200" y="5029200"/>
            <a:ext cx="5394960" cy="12344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Rectangle 27"/>
          <p:cNvSpPr/>
          <p:nvPr/>
        </p:nvSpPr>
        <p:spPr>
          <a:xfrm>
            <a:off x="6172200" y="5029200"/>
            <a:ext cx="54864" cy="123444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6492240" y="5257800"/>
            <a:ext cx="4892040" cy="457200"/>
          </a:xfrm>
          <a:prstGeom prst="rect">
            <a:avLst/>
          </a:prstGeom>
          <a:noFill/>
        </p:spPr>
        <p:txBody>
          <a:bodyPr wrap="square" lIns="0" rIns="0" tIns="0" bIns="0" anchor="t">
            <a:spAutoFit/>
          </a:bodyPr>
          <a:lstStyle/>
          <a:p>
            <a:pPr algn="l">
              <a:lnSpc>
                <a:spcPct val="115000"/>
              </a:lnSpc>
            </a:pPr>
            <a:r>
              <a:rPr sz="1800" b="1" i="0">
                <a:solidFill>
                  <a:srgbClr val="FFFFFF"/>
                </a:solidFill>
                <a:latin typeface="Inter"/>
              </a:rPr>
              <a:t>Pass your audit</a:t>
            </a:r>
          </a:p>
        </p:txBody>
      </p:sp>
      <p:sp>
        <p:nvSpPr>
          <p:cNvPr id="30" name="TextBox 29"/>
          <p:cNvSpPr txBox="1"/>
          <p:nvPr/>
        </p:nvSpPr>
        <p:spPr>
          <a:xfrm>
            <a:off x="6492240" y="5715000"/>
            <a:ext cx="4892040" cy="457200"/>
          </a:xfrm>
          <a:prstGeom prst="rect">
            <a:avLst/>
          </a:prstGeom>
          <a:noFill/>
        </p:spPr>
        <p:txBody>
          <a:bodyPr wrap="square" lIns="0" rIns="0" tIns="0" bIns="0" anchor="t">
            <a:spAutoFit/>
          </a:bodyPr>
          <a:lstStyle/>
          <a:p>
            <a:pPr algn="l">
              <a:lnSpc>
                <a:spcPct val="115000"/>
              </a:lnSpc>
            </a:pPr>
            <a:r>
              <a:rPr sz="1300" b="0" i="0">
                <a:solidFill>
                  <a:srgbClr val="A8B3BD"/>
                </a:solidFill>
                <a:latin typeface="Inter"/>
              </a:rPr>
              <a:t>Hash-chained config history, signed offline licensing.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06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REPLACE SPREADSHEET OPERATIONS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Most plants already have the data.</a:t>
            </a:r>
          </a:p>
        </p:txBody>
      </p:sp>
      <p:sp>
        <p:nvSpPr>
          <p:cNvPr id="7" name="TextBox 6"/>
          <p:cNvSpPr txBox="1"/>
          <p:nvPr/>
        </p:nvSpPr>
        <p:spPr>
          <a:xfrm>
            <a:off x="640080" y="1554480"/>
            <a:ext cx="10881360" cy="502920"/>
          </a:xfrm>
          <a:prstGeom prst="rect">
            <a:avLst/>
          </a:prstGeom>
          <a:noFill/>
        </p:spPr>
        <p:txBody>
          <a:bodyPr wrap="square" lIns="0" rIns="0" tIns="0" bIns="0" anchor="t">
            <a:spAutoFit/>
          </a:bodyPr>
          <a:lstStyle/>
          <a:p>
            <a:pPr algn="l">
              <a:lnSpc>
                <a:spcPct val="120000"/>
              </a:lnSpc>
            </a:pPr>
            <a:r>
              <a:rPr sz="2200" b="0" i="1">
                <a:solidFill>
                  <a:srgbClr val="A8B3BD"/>
                </a:solidFill>
                <a:latin typeface="Inter"/>
              </a:rPr>
              <a:t>What they lack is a system that produces:</a:t>
            </a:r>
          </a:p>
        </p:txBody>
      </p:sp>
      <p:sp>
        <p:nvSpPr>
          <p:cNvPr id="8" name="Rectangle 7"/>
          <p:cNvSpPr/>
          <p:nvPr/>
        </p:nvSpPr>
        <p:spPr>
          <a:xfrm>
            <a:off x="640080" y="2468880"/>
            <a:ext cx="4572000" cy="3200400"/>
          </a:xfrm>
          <a:prstGeom prst="rect">
            <a:avLst/>
          </a:prstGeom>
          <a:solidFill>
            <a:srgbClr val="3A4049"/>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2697480"/>
            <a:ext cx="2743200" cy="274320"/>
          </a:xfrm>
          <a:prstGeom prst="rect">
            <a:avLst/>
          </a:prstGeom>
          <a:noFill/>
        </p:spPr>
        <p:txBody>
          <a:bodyPr wrap="square" lIns="0" rIns="0" tIns="0" bIns="0" anchor="t">
            <a:spAutoFit/>
          </a:bodyPr>
          <a:lstStyle/>
          <a:p>
            <a:pPr algn="l">
              <a:lnSpc>
                <a:spcPct val="115000"/>
              </a:lnSpc>
            </a:pPr>
            <a:r>
              <a:rPr sz="1100" b="1" i="0" spc="250">
                <a:solidFill>
                  <a:srgbClr val="A8B3BD"/>
                </a:solidFill>
                <a:latin typeface="Inter"/>
              </a:rPr>
              <a:t>TODAY</a:t>
            </a:r>
          </a:p>
        </p:txBody>
      </p:sp>
      <p:sp>
        <p:nvSpPr>
          <p:cNvPr id="10" name="Rectangle 9"/>
          <p:cNvSpPr/>
          <p:nvPr/>
        </p:nvSpPr>
        <p:spPr>
          <a:xfrm>
            <a:off x="914400" y="3154680"/>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2" name="TextBox 11"/>
          <p:cNvSpPr txBox="1"/>
          <p:nvPr/>
        </p:nvSpPr>
        <p:spPr>
          <a:xfrm>
            <a:off x="187452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3" name="TextBox 12"/>
          <p:cNvSpPr txBox="1"/>
          <p:nvPr/>
        </p:nvSpPr>
        <p:spPr>
          <a:xfrm>
            <a:off x="283464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4" name="TextBox 13"/>
          <p:cNvSpPr txBox="1"/>
          <p:nvPr/>
        </p:nvSpPr>
        <p:spPr>
          <a:xfrm>
            <a:off x="3794760" y="3200400"/>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15" name="Rectangle 14"/>
          <p:cNvSpPr/>
          <p:nvPr/>
        </p:nvSpPr>
        <p:spPr>
          <a:xfrm>
            <a:off x="914400" y="3447288"/>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1440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7" name="TextBox 16"/>
          <p:cNvSpPr txBox="1"/>
          <p:nvPr/>
        </p:nvSpPr>
        <p:spPr>
          <a:xfrm>
            <a:off x="187452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8" name="TextBox 17"/>
          <p:cNvSpPr txBox="1"/>
          <p:nvPr/>
        </p:nvSpPr>
        <p:spPr>
          <a:xfrm>
            <a:off x="283464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19" name="TextBox 18"/>
          <p:cNvSpPr txBox="1"/>
          <p:nvPr/>
        </p:nvSpPr>
        <p:spPr>
          <a:xfrm>
            <a:off x="3794760" y="3493008"/>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0" name="Rectangle 19"/>
          <p:cNvSpPr/>
          <p:nvPr/>
        </p:nvSpPr>
        <p:spPr>
          <a:xfrm>
            <a:off x="914400" y="3739896"/>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91440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2" name="TextBox 21"/>
          <p:cNvSpPr txBox="1"/>
          <p:nvPr/>
        </p:nvSpPr>
        <p:spPr>
          <a:xfrm>
            <a:off x="187452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3" name="TextBox 22"/>
          <p:cNvSpPr txBox="1"/>
          <p:nvPr/>
        </p:nvSpPr>
        <p:spPr>
          <a:xfrm>
            <a:off x="283464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4" name="TextBox 23"/>
          <p:cNvSpPr txBox="1"/>
          <p:nvPr/>
        </p:nvSpPr>
        <p:spPr>
          <a:xfrm>
            <a:off x="3794760" y="3785616"/>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25" name="Rectangle 24"/>
          <p:cNvSpPr/>
          <p:nvPr/>
        </p:nvSpPr>
        <p:spPr>
          <a:xfrm>
            <a:off x="914400" y="4032504"/>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91440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7" name="TextBox 26"/>
          <p:cNvSpPr txBox="1"/>
          <p:nvPr/>
        </p:nvSpPr>
        <p:spPr>
          <a:xfrm>
            <a:off x="187452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8" name="TextBox 27"/>
          <p:cNvSpPr txBox="1"/>
          <p:nvPr/>
        </p:nvSpPr>
        <p:spPr>
          <a:xfrm>
            <a:off x="283464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29" name="TextBox 28"/>
          <p:cNvSpPr txBox="1"/>
          <p:nvPr/>
        </p:nvSpPr>
        <p:spPr>
          <a:xfrm>
            <a:off x="3794760" y="4078224"/>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0" name="Rectangle 29"/>
          <p:cNvSpPr/>
          <p:nvPr/>
        </p:nvSpPr>
        <p:spPr>
          <a:xfrm>
            <a:off x="914400" y="4325112"/>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91440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2" name="TextBox 31"/>
          <p:cNvSpPr txBox="1"/>
          <p:nvPr/>
        </p:nvSpPr>
        <p:spPr>
          <a:xfrm>
            <a:off x="187452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3" name="TextBox 32"/>
          <p:cNvSpPr txBox="1"/>
          <p:nvPr/>
        </p:nvSpPr>
        <p:spPr>
          <a:xfrm>
            <a:off x="283464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4" name="TextBox 33"/>
          <p:cNvSpPr txBox="1"/>
          <p:nvPr/>
        </p:nvSpPr>
        <p:spPr>
          <a:xfrm>
            <a:off x="3794760" y="4370832"/>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35" name="Rectangle 34"/>
          <p:cNvSpPr/>
          <p:nvPr/>
        </p:nvSpPr>
        <p:spPr>
          <a:xfrm>
            <a:off x="914400" y="4617720"/>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91440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7" name="TextBox 36"/>
          <p:cNvSpPr txBox="1"/>
          <p:nvPr/>
        </p:nvSpPr>
        <p:spPr>
          <a:xfrm>
            <a:off x="187452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8" name="TextBox 37"/>
          <p:cNvSpPr txBox="1"/>
          <p:nvPr/>
        </p:nvSpPr>
        <p:spPr>
          <a:xfrm>
            <a:off x="283464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39" name="TextBox 38"/>
          <p:cNvSpPr txBox="1"/>
          <p:nvPr/>
        </p:nvSpPr>
        <p:spPr>
          <a:xfrm>
            <a:off x="3794760" y="4663440"/>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0" name="Rectangle 39"/>
          <p:cNvSpPr/>
          <p:nvPr/>
        </p:nvSpPr>
        <p:spPr>
          <a:xfrm>
            <a:off x="914400" y="4910328"/>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91440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2" name="TextBox 41"/>
          <p:cNvSpPr txBox="1"/>
          <p:nvPr/>
        </p:nvSpPr>
        <p:spPr>
          <a:xfrm>
            <a:off x="187452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3" name="TextBox 42"/>
          <p:cNvSpPr txBox="1"/>
          <p:nvPr/>
        </p:nvSpPr>
        <p:spPr>
          <a:xfrm>
            <a:off x="283464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4" name="TextBox 43"/>
          <p:cNvSpPr txBox="1"/>
          <p:nvPr/>
        </p:nvSpPr>
        <p:spPr>
          <a:xfrm>
            <a:off x="3794760" y="4956048"/>
            <a:ext cx="914400" cy="228600"/>
          </a:xfrm>
          <a:prstGeom prst="rect">
            <a:avLst/>
          </a:prstGeom>
          <a:noFill/>
        </p:spPr>
        <p:txBody>
          <a:bodyPr wrap="square" lIns="0" rIns="0" tIns="0" bIns="0" anchor="t">
            <a:spAutoFit/>
          </a:bodyPr>
          <a:lstStyle/>
          <a:p>
            <a:pPr algn="l">
              <a:lnSpc>
                <a:spcPct val="100000"/>
              </a:lnSpc>
            </a:pPr>
            <a:r>
              <a:rPr sz="1000" b="0" i="0">
                <a:solidFill>
                  <a:srgbClr val="A8B3BD"/>
                </a:solidFill>
                <a:latin typeface="Inter"/>
              </a:rPr>
              <a:t>—————</a:t>
            </a:r>
          </a:p>
        </p:txBody>
      </p:sp>
      <p:sp>
        <p:nvSpPr>
          <p:cNvPr id="45" name="Rectangle 44"/>
          <p:cNvSpPr/>
          <p:nvPr/>
        </p:nvSpPr>
        <p:spPr>
          <a:xfrm>
            <a:off x="914400" y="5202936"/>
            <a:ext cx="4023360" cy="16459"/>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91440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7" name="TextBox 46"/>
          <p:cNvSpPr txBox="1"/>
          <p:nvPr/>
        </p:nvSpPr>
        <p:spPr>
          <a:xfrm>
            <a:off x="187452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8" name="TextBox 47"/>
          <p:cNvSpPr txBox="1"/>
          <p:nvPr/>
        </p:nvSpPr>
        <p:spPr>
          <a:xfrm>
            <a:off x="283464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49" name="TextBox 48"/>
          <p:cNvSpPr txBox="1"/>
          <p:nvPr/>
        </p:nvSpPr>
        <p:spPr>
          <a:xfrm>
            <a:off x="3794760" y="5248656"/>
            <a:ext cx="914400" cy="228600"/>
          </a:xfrm>
          <a:prstGeom prst="rect">
            <a:avLst/>
          </a:prstGeom>
          <a:noFill/>
        </p:spPr>
        <p:txBody>
          <a:bodyPr wrap="square" lIns="0" rIns="0" tIns="0" bIns="0" anchor="t">
            <a:spAutoFit/>
          </a:bodyPr>
          <a:lstStyle/>
          <a:p>
            <a:pPr algn="l">
              <a:lnSpc>
                <a:spcPct val="100000"/>
              </a:lnSpc>
            </a:pPr>
            <a:r>
              <a:rPr sz="1000" b="0" i="0">
                <a:solidFill>
                  <a:srgbClr val="4A5560"/>
                </a:solidFill>
                <a:latin typeface="Inter"/>
              </a:rPr>
              <a:t>—————</a:t>
            </a:r>
          </a:p>
        </p:txBody>
      </p:sp>
      <p:sp>
        <p:nvSpPr>
          <p:cNvPr id="50" name="TextBox 49"/>
          <p:cNvSpPr txBox="1"/>
          <p:nvPr/>
        </p:nvSpPr>
        <p:spPr>
          <a:xfrm>
            <a:off x="914400" y="4983480"/>
            <a:ext cx="4023360" cy="594360"/>
          </a:xfrm>
          <a:prstGeom prst="rect">
            <a:avLst/>
          </a:prstGeom>
          <a:noFill/>
        </p:spPr>
        <p:txBody>
          <a:bodyPr wrap="square" lIns="0" rIns="0" tIns="0" bIns="0" anchor="t">
            <a:spAutoFit/>
          </a:bodyPr>
          <a:lstStyle/>
          <a:p>
            <a:pPr algn="l">
              <a:lnSpc>
                <a:spcPct val="130000"/>
              </a:lnSpc>
            </a:pPr>
            <a:r>
              <a:rPr sz="1200" b="0" i="1">
                <a:solidFill>
                  <a:srgbClr val="A8B3BD"/>
                </a:solidFill>
                <a:latin typeface="Inter"/>
              </a:rPr>
              <a:t>Tribal knowledge in cells.
No timestamps you can trust.</a:t>
            </a:r>
          </a:p>
        </p:txBody>
      </p:sp>
      <p:sp>
        <p:nvSpPr>
          <p:cNvPr id="51" name="TextBox 50"/>
          <p:cNvSpPr txBox="1"/>
          <p:nvPr/>
        </p:nvSpPr>
        <p:spPr>
          <a:xfrm>
            <a:off x="5852160" y="2468880"/>
            <a:ext cx="5486400" cy="274320"/>
          </a:xfrm>
          <a:prstGeom prst="rect">
            <a:avLst/>
          </a:prstGeom>
          <a:noFill/>
        </p:spPr>
        <p:txBody>
          <a:bodyPr wrap="square" lIns="0" rIns="0" tIns="0" bIns="0" anchor="t">
            <a:spAutoFit/>
          </a:bodyPr>
          <a:lstStyle/>
          <a:p>
            <a:pPr algn="l">
              <a:lnSpc>
                <a:spcPct val="115000"/>
              </a:lnSpc>
            </a:pPr>
            <a:r>
              <a:rPr sz="1100" b="1" i="0" spc="250">
                <a:solidFill>
                  <a:srgbClr val="00A0E0"/>
                </a:solidFill>
                <a:latin typeface="Inter"/>
              </a:rPr>
              <a:t>WITH THE PLATFORM</a:t>
            </a:r>
          </a:p>
        </p:txBody>
      </p:sp>
      <p:sp>
        <p:nvSpPr>
          <p:cNvPr id="52" name="Rectangle 51"/>
          <p:cNvSpPr/>
          <p:nvPr/>
        </p:nvSpPr>
        <p:spPr>
          <a:xfrm>
            <a:off x="5852160" y="3118104"/>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xtBox 52"/>
          <p:cNvSpPr txBox="1"/>
          <p:nvPr/>
        </p:nvSpPr>
        <p:spPr>
          <a:xfrm>
            <a:off x="6144768" y="2971800"/>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Trusted timestamps</a:t>
            </a:r>
          </a:p>
        </p:txBody>
      </p:sp>
      <p:sp>
        <p:nvSpPr>
          <p:cNvPr id="54" name="TextBox 53"/>
          <p:cNvSpPr txBox="1"/>
          <p:nvPr/>
        </p:nvSpPr>
        <p:spPr>
          <a:xfrm>
            <a:off x="6144768" y="3246120"/>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Captured at the controller — not transcribed from a clipboard.</a:t>
            </a:r>
          </a:p>
        </p:txBody>
      </p:sp>
      <p:sp>
        <p:nvSpPr>
          <p:cNvPr id="55" name="Rectangle 54"/>
          <p:cNvSpPr/>
          <p:nvPr/>
        </p:nvSpPr>
        <p:spPr>
          <a:xfrm>
            <a:off x="5852160" y="3721608"/>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xtBox 55"/>
          <p:cNvSpPr txBox="1"/>
          <p:nvPr/>
        </p:nvSpPr>
        <p:spPr>
          <a:xfrm>
            <a:off x="6144768" y="3575304"/>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Auditable OEE</a:t>
            </a:r>
          </a:p>
        </p:txBody>
      </p:sp>
      <p:sp>
        <p:nvSpPr>
          <p:cNvPr id="57" name="TextBox 56"/>
          <p:cNvSpPr txBox="1"/>
          <p:nvPr/>
        </p:nvSpPr>
        <p:spPr>
          <a:xfrm>
            <a:off x="6144768" y="3849624"/>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Segment-based math you can show an auditor.</a:t>
            </a:r>
          </a:p>
        </p:txBody>
      </p:sp>
      <p:sp>
        <p:nvSpPr>
          <p:cNvPr id="58" name="Rectangle 57"/>
          <p:cNvSpPr/>
          <p:nvPr/>
        </p:nvSpPr>
        <p:spPr>
          <a:xfrm>
            <a:off x="5852160" y="4325112"/>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xtBox 58"/>
          <p:cNvSpPr txBox="1"/>
          <p:nvPr/>
        </p:nvSpPr>
        <p:spPr>
          <a:xfrm>
            <a:off x="6144768" y="4178808"/>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Persistent alarm history</a:t>
            </a:r>
          </a:p>
        </p:txBody>
      </p:sp>
      <p:sp>
        <p:nvSpPr>
          <p:cNvPr id="60" name="TextBox 59"/>
          <p:cNvSpPr txBox="1"/>
          <p:nvPr/>
        </p:nvSpPr>
        <p:spPr>
          <a:xfrm>
            <a:off x="6144768" y="4453128"/>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Every fault on the record.</a:t>
            </a:r>
          </a:p>
        </p:txBody>
      </p:sp>
      <p:sp>
        <p:nvSpPr>
          <p:cNvPr id="61" name="Rectangle 60"/>
          <p:cNvSpPr/>
          <p:nvPr/>
        </p:nvSpPr>
        <p:spPr>
          <a:xfrm>
            <a:off x="5852160" y="4928616"/>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xtBox 61"/>
          <p:cNvSpPr txBox="1"/>
          <p:nvPr/>
        </p:nvSpPr>
        <p:spPr>
          <a:xfrm>
            <a:off x="6144768" y="4782312"/>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Unified machine visibility</a:t>
            </a:r>
          </a:p>
        </p:txBody>
      </p:sp>
      <p:sp>
        <p:nvSpPr>
          <p:cNvPr id="63" name="TextBox 62"/>
          <p:cNvSpPr txBox="1"/>
          <p:nvPr/>
        </p:nvSpPr>
        <p:spPr>
          <a:xfrm>
            <a:off x="6144768" y="5056632"/>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One view across CNCs, PLCs, meters.</a:t>
            </a:r>
          </a:p>
        </p:txBody>
      </p:sp>
      <p:sp>
        <p:nvSpPr>
          <p:cNvPr id="64" name="Rectangle 63"/>
          <p:cNvSpPr/>
          <p:nvPr/>
        </p:nvSpPr>
        <p:spPr>
          <a:xfrm>
            <a:off x="5852160" y="5532120"/>
            <a:ext cx="128016" cy="12801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xtBox 64"/>
          <p:cNvSpPr txBox="1"/>
          <p:nvPr/>
        </p:nvSpPr>
        <p:spPr>
          <a:xfrm>
            <a:off x="6144768" y="5385816"/>
            <a:ext cx="5029200" cy="292608"/>
          </a:xfrm>
          <a:prstGeom prst="rect">
            <a:avLst/>
          </a:prstGeom>
          <a:noFill/>
        </p:spPr>
        <p:txBody>
          <a:bodyPr wrap="square" lIns="0" rIns="0" tIns="0" bIns="0" anchor="t">
            <a:spAutoFit/>
          </a:bodyPr>
          <a:lstStyle/>
          <a:p>
            <a:pPr algn="l">
              <a:lnSpc>
                <a:spcPct val="115000"/>
              </a:lnSpc>
            </a:pPr>
            <a:r>
              <a:rPr sz="1500" b="1" i="0">
                <a:solidFill>
                  <a:srgbClr val="E8ECF1"/>
                </a:solidFill>
                <a:latin typeface="Inter"/>
              </a:rPr>
              <a:t>Centralized workflows</a:t>
            </a:r>
          </a:p>
        </p:txBody>
      </p:sp>
      <p:sp>
        <p:nvSpPr>
          <p:cNvPr id="66" name="TextBox 65"/>
          <p:cNvSpPr txBox="1"/>
          <p:nvPr/>
        </p:nvSpPr>
        <p:spPr>
          <a:xfrm>
            <a:off x="6144768" y="5660136"/>
            <a:ext cx="5029200" cy="292608"/>
          </a:xfrm>
          <a:prstGeom prst="rect">
            <a:avLst/>
          </a:prstGeom>
          <a:noFill/>
        </p:spPr>
        <p:txBody>
          <a:bodyPr wrap="square" lIns="0" rIns="0" tIns="0" bIns="0" anchor="t">
            <a:spAutoFit/>
          </a:bodyPr>
          <a:lstStyle/>
          <a:p>
            <a:pPr algn="l">
              <a:lnSpc>
                <a:spcPct val="115000"/>
              </a:lnSpc>
            </a:pPr>
            <a:r>
              <a:rPr sz="1200" b="0" i="0">
                <a:solidFill>
                  <a:srgbClr val="A8B3BD"/>
                </a:solidFill>
                <a:latin typeface="Inter"/>
              </a:rPr>
              <a:t>Shift reports as a record — not a phone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07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CONNECTIVITY COVERAGE</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We support the protocols your controllers already speak.</a:t>
            </a:r>
          </a:p>
        </p:txBody>
      </p:sp>
      <p:sp>
        <p:nvSpPr>
          <p:cNvPr id="7" name="Rectangle 6"/>
          <p:cNvSpPr/>
          <p:nvPr/>
        </p:nvSpPr>
        <p:spPr>
          <a:xfrm>
            <a:off x="64008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6012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9" name="TextBox 8"/>
          <p:cNvSpPr txBox="1"/>
          <p:nvPr/>
        </p:nvSpPr>
        <p:spPr>
          <a:xfrm>
            <a:off x="96012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CNC controllers</a:t>
            </a:r>
          </a:p>
        </p:txBody>
      </p:sp>
      <p:sp>
        <p:nvSpPr>
          <p:cNvPr id="10" name="TextBox 9"/>
          <p:cNvSpPr txBox="1"/>
          <p:nvPr/>
        </p:nvSpPr>
        <p:spPr>
          <a:xfrm>
            <a:off x="96012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FOCAS2  ·  MT-LINKi  ·  MTConnect  ·  Brother HTTP</a:t>
            </a:r>
          </a:p>
        </p:txBody>
      </p:sp>
      <p:sp>
        <p:nvSpPr>
          <p:cNvPr id="11" name="Rectangle 10"/>
          <p:cNvSpPr/>
          <p:nvPr/>
        </p:nvSpPr>
        <p:spPr>
          <a:xfrm>
            <a:off x="6172200" y="210312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92240" y="233172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SOUTHBOUND</a:t>
            </a:r>
          </a:p>
        </p:txBody>
      </p:sp>
      <p:sp>
        <p:nvSpPr>
          <p:cNvPr id="13" name="TextBox 12"/>
          <p:cNvSpPr txBox="1"/>
          <p:nvPr/>
        </p:nvSpPr>
        <p:spPr>
          <a:xfrm>
            <a:off x="6492240" y="265176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PLC + instrumentation</a:t>
            </a:r>
          </a:p>
        </p:txBody>
      </p:sp>
      <p:sp>
        <p:nvSpPr>
          <p:cNvPr id="14" name="TextBox 13"/>
          <p:cNvSpPr txBox="1"/>
          <p:nvPr/>
        </p:nvSpPr>
        <p:spPr>
          <a:xfrm>
            <a:off x="6492240" y="315468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Modbus TCP</a:t>
            </a:r>
          </a:p>
        </p:txBody>
      </p:sp>
      <p:sp>
        <p:nvSpPr>
          <p:cNvPr id="15" name="Rectangle 14"/>
          <p:cNvSpPr/>
          <p:nvPr/>
        </p:nvSpPr>
        <p:spPr>
          <a:xfrm>
            <a:off x="64008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17" name="TextBox 16"/>
          <p:cNvSpPr txBox="1"/>
          <p:nvPr/>
        </p:nvSpPr>
        <p:spPr>
          <a:xfrm>
            <a:off x="96012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Messaging</a:t>
            </a:r>
          </a:p>
        </p:txBody>
      </p:sp>
      <p:sp>
        <p:nvSpPr>
          <p:cNvPr id="18" name="TextBox 17"/>
          <p:cNvSpPr txBox="1"/>
          <p:nvPr/>
        </p:nvSpPr>
        <p:spPr>
          <a:xfrm>
            <a:off x="96012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MQTT (any compliant broker)</a:t>
            </a:r>
          </a:p>
        </p:txBody>
      </p:sp>
      <p:sp>
        <p:nvSpPr>
          <p:cNvPr id="19" name="Rectangle 18"/>
          <p:cNvSpPr/>
          <p:nvPr/>
        </p:nvSpPr>
        <p:spPr>
          <a:xfrm>
            <a:off x="6172200" y="3886200"/>
            <a:ext cx="5394960" cy="164592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92240" y="4114800"/>
            <a:ext cx="2743200" cy="274320"/>
          </a:xfrm>
          <a:prstGeom prst="rect">
            <a:avLst/>
          </a:prstGeom>
          <a:noFill/>
        </p:spPr>
        <p:txBody>
          <a:bodyPr wrap="square" lIns="0" rIns="0" tIns="0" bIns="0" anchor="t">
            <a:spAutoFit/>
          </a:bodyPr>
          <a:lstStyle/>
          <a:p>
            <a:pPr algn="l">
              <a:lnSpc>
                <a:spcPct val="115000"/>
              </a:lnSpc>
            </a:pPr>
            <a:r>
              <a:rPr sz="1000" b="1" i="0" spc="300">
                <a:solidFill>
                  <a:srgbClr val="00A0E0"/>
                </a:solidFill>
                <a:latin typeface="Inter"/>
              </a:rPr>
              <a:t>NORTHBOUND</a:t>
            </a:r>
          </a:p>
        </p:txBody>
      </p:sp>
      <p:sp>
        <p:nvSpPr>
          <p:cNvPr id="21" name="TextBox 20"/>
          <p:cNvSpPr txBox="1"/>
          <p:nvPr/>
        </p:nvSpPr>
        <p:spPr>
          <a:xfrm>
            <a:off x="6492240" y="4434840"/>
            <a:ext cx="4754880" cy="502920"/>
          </a:xfrm>
          <a:prstGeom prst="rect">
            <a:avLst/>
          </a:prstGeom>
          <a:noFill/>
        </p:spPr>
        <p:txBody>
          <a:bodyPr wrap="square" lIns="0" rIns="0" tIns="0" bIns="0" anchor="t">
            <a:spAutoFit/>
          </a:bodyPr>
          <a:lstStyle/>
          <a:p>
            <a:pPr algn="l">
              <a:lnSpc>
                <a:spcPct val="115000"/>
              </a:lnSpc>
            </a:pPr>
            <a:r>
              <a:rPr sz="2200" b="1" i="0">
                <a:solidFill>
                  <a:srgbClr val="FFFFFF"/>
                </a:solidFill>
                <a:latin typeface="Inter"/>
              </a:rPr>
              <a:t>Enterprise integration</a:t>
            </a:r>
          </a:p>
        </p:txBody>
      </p:sp>
      <p:sp>
        <p:nvSpPr>
          <p:cNvPr id="22" name="TextBox 21"/>
          <p:cNvSpPr txBox="1"/>
          <p:nvPr/>
        </p:nvSpPr>
        <p:spPr>
          <a:xfrm>
            <a:off x="6492240" y="4937760"/>
            <a:ext cx="4754880" cy="502920"/>
          </a:xfrm>
          <a:prstGeom prst="rect">
            <a:avLst/>
          </a:prstGeom>
          <a:noFill/>
        </p:spPr>
        <p:txBody>
          <a:bodyPr wrap="square" lIns="0" rIns="0" tIns="0" bIns="0" anchor="t">
            <a:spAutoFit/>
          </a:bodyPr>
          <a:lstStyle/>
          <a:p>
            <a:pPr algn="l">
              <a:lnSpc>
                <a:spcPct val="115000"/>
              </a:lnSpc>
            </a:pPr>
            <a:r>
              <a:rPr sz="1500" b="0" i="0">
                <a:solidFill>
                  <a:srgbClr val="E8ECF1"/>
                </a:solidFill>
                <a:latin typeface="Inter"/>
              </a:rPr>
              <a:t>OPC UA Server</a:t>
            </a:r>
          </a:p>
        </p:txBody>
      </p:sp>
      <p:sp>
        <p:nvSpPr>
          <p:cNvPr id="23" name="TextBox 22"/>
          <p:cNvSpPr txBox="1"/>
          <p:nvPr/>
        </p:nvSpPr>
        <p:spPr>
          <a:xfrm>
            <a:off x="640080" y="5623560"/>
            <a:ext cx="10881360" cy="457200"/>
          </a:xfrm>
          <a:prstGeom prst="rect">
            <a:avLst/>
          </a:prstGeom>
          <a:noFill/>
        </p:spPr>
        <p:txBody>
          <a:bodyPr wrap="square" lIns="0" rIns="0" tIns="0" bIns="0" anchor="t">
            <a:spAutoFit/>
          </a:bodyPr>
          <a:lstStyle/>
          <a:p>
            <a:pPr algn="ctr">
              <a:lnSpc>
                <a:spcPct val="115000"/>
              </a:lnSpc>
            </a:pPr>
            <a:r>
              <a:rPr sz="1400" b="0" i="1">
                <a:solidFill>
                  <a:srgbClr val="C8D0D8"/>
                </a:solidFill>
                <a:latin typeface="Inter"/>
              </a:rPr>
              <a:t>One canonical CNC vocabulary across every source. The same dashboard layout works across Fanuc, Brother, and Modbus-fronted machines.</a:t>
            </a:r>
          </a:p>
        </p:txBody>
      </p:sp>
      <p:sp>
        <p:nvSpPr>
          <p:cNvPr id="24" name="TextBox 23"/>
          <p:cNvSpPr txBox="1"/>
          <p:nvPr/>
        </p:nvSpPr>
        <p:spPr>
          <a:xfrm>
            <a:off x="640080" y="6199632"/>
            <a:ext cx="10881360" cy="274320"/>
          </a:xfrm>
          <a:prstGeom prst="rect">
            <a:avLst/>
          </a:prstGeom>
          <a:noFill/>
        </p:spPr>
        <p:txBody>
          <a:bodyPr wrap="square" lIns="0" rIns="0" tIns="0" bIns="0" anchor="t">
            <a:spAutoFit/>
          </a:bodyPr>
          <a:lstStyle/>
          <a:p>
            <a:pPr algn="ctr">
              <a:lnSpc>
                <a:spcPct val="115000"/>
              </a:lnSpc>
            </a:pPr>
            <a:r>
              <a:rPr sz="900" b="0" i="0" spc="250">
                <a:solidFill>
                  <a:srgbClr val="5E6B78"/>
                </a:solidFill>
                <a:latin typeface="Inter"/>
              </a:rPr>
              <a:t>COMING  ·  Siemens S7    ·    OPC UA Client    ·    HTTP / TCP sinks    ·    Linux host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08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ARCHITECTURE AT A GLANCE</a:t>
            </a:r>
          </a:p>
        </p:txBody>
      </p:sp>
      <p:sp>
        <p:nvSpPr>
          <p:cNvPr id="6" name="TextBox 5"/>
          <p:cNvSpPr txBox="1"/>
          <p:nvPr/>
        </p:nvSpPr>
        <p:spPr>
          <a:xfrm>
            <a:off x="640080" y="868680"/>
            <a:ext cx="10881360" cy="457200"/>
          </a:xfrm>
          <a:prstGeom prst="rect">
            <a:avLst/>
          </a:prstGeom>
          <a:noFill/>
        </p:spPr>
        <p:txBody>
          <a:bodyPr wrap="square" lIns="0" rIns="0" tIns="0" bIns="0" anchor="t">
            <a:spAutoFit/>
          </a:bodyPr>
          <a:lstStyle/>
          <a:p>
            <a:pPr algn="l">
              <a:lnSpc>
                <a:spcPct val="120000"/>
              </a:lnSpc>
            </a:pPr>
            <a:r>
              <a:rPr sz="1800" b="0" i="0">
                <a:solidFill>
                  <a:srgbClr val="E8ECF1"/>
                </a:solidFill>
                <a:latin typeface="Inter"/>
              </a:rPr>
              <a:t>Edge collects  ·  Integration carries  ·  Intelligence aggregates  ·  Consumers consume</a:t>
            </a:r>
          </a:p>
        </p:txBody>
      </p:sp>
      <p:pic>
        <p:nvPicPr>
          <p:cNvPr id="7" name="Picture 6" descr="architecture-diagram-v1-slide@2x.png"/>
          <p:cNvPicPr>
            <a:picLocks noChangeAspect="1"/>
          </p:cNvPicPr>
          <p:nvPr/>
        </p:nvPicPr>
        <p:blipFill>
          <a:blip r:embed="rId2"/>
          <a:stretch>
            <a:fillRect/>
          </a:stretch>
        </p:blipFill>
        <p:spPr>
          <a:xfrm>
            <a:off x="1066647" y="1508760"/>
            <a:ext cx="10058400" cy="5657850"/>
          </a:xfrm>
          <a:prstGeom prst="rect">
            <a:avLst/>
          </a:prstGeom>
        </p:spPr>
      </p:pic>
      <p:sp>
        <p:nvSpPr>
          <p:cNvPr id="8" name="TextBox 7"/>
          <p:cNvSpPr txBox="1"/>
          <p:nvPr/>
        </p:nvSpPr>
        <p:spPr>
          <a:xfrm>
            <a:off x="914400" y="5989320"/>
            <a:ext cx="10332720" cy="594360"/>
          </a:xfrm>
          <a:prstGeom prst="rect">
            <a:avLst/>
          </a:prstGeom>
          <a:noFill/>
        </p:spPr>
        <p:txBody>
          <a:bodyPr wrap="square" lIns="0" rIns="0" tIns="0" bIns="0" anchor="t">
            <a:spAutoFit/>
          </a:bodyPr>
          <a:lstStyle/>
          <a:p>
            <a:pPr algn="ctr">
              <a:lnSpc>
                <a:spcPct val="130000"/>
              </a:lnSpc>
            </a:pPr>
            <a:r>
              <a:rPr sz="1300" b="0" i="1">
                <a:solidFill>
                  <a:srgbClr val="C8D0D8"/>
                </a:solidFill>
                <a:latin typeface="Inter"/>
              </a:rPr>
              <a:t>One EdgeConnect deploys at each plant. One EREMOS V2 tenant aggregates many sites. Standard MQTT and OPC UA make the integration interoperable with whatever else you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09 / 12</a:t>
            </a:r>
          </a:p>
        </p:txBody>
      </p:sp>
      <p:sp>
        <p:nvSpPr>
          <p:cNvPr id="5" name="TextBox 4"/>
          <p:cNvSpPr txBox="1"/>
          <p:nvPr/>
        </p:nvSpPr>
        <p:spPr>
          <a:xfrm>
            <a:off x="640080" y="457200"/>
            <a:ext cx="54864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WHY ELPIS</a:t>
            </a:r>
          </a:p>
        </p:txBody>
      </p:sp>
      <p:sp>
        <p:nvSpPr>
          <p:cNvPr id="6" name="TextBox 5"/>
          <p:cNvSpPr txBox="1"/>
          <p:nvPr/>
        </p:nvSpPr>
        <p:spPr>
          <a:xfrm>
            <a:off x="640080" y="868680"/>
            <a:ext cx="10881360" cy="640080"/>
          </a:xfrm>
          <a:prstGeom prst="rect">
            <a:avLst/>
          </a:prstGeom>
          <a:noFill/>
        </p:spPr>
        <p:txBody>
          <a:bodyPr wrap="square" lIns="0" rIns="0" tIns="0" bIns="0" anchor="t">
            <a:spAutoFit/>
          </a:bodyPr>
          <a:lstStyle/>
          <a:p>
            <a:pPr algn="l">
              <a:lnSpc>
                <a:spcPct val="110000"/>
              </a:lnSpc>
            </a:pPr>
            <a:r>
              <a:rPr sz="3000" b="1" i="0">
                <a:solidFill>
                  <a:srgbClr val="FFFFFF"/>
                </a:solidFill>
                <a:latin typeface="Inter"/>
              </a:rPr>
              <a:t>Differentiators, every one of them outcome-led.</a:t>
            </a:r>
          </a:p>
        </p:txBody>
      </p:sp>
      <p:sp>
        <p:nvSpPr>
          <p:cNvPr id="7" name="Rectangle 6"/>
          <p:cNvSpPr/>
          <p:nvPr/>
        </p:nvSpPr>
        <p:spPr>
          <a:xfrm>
            <a:off x="64008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New protocols ship without breaking the old ones</a:t>
            </a:r>
          </a:p>
        </p:txBody>
      </p:sp>
      <p:sp>
        <p:nvSpPr>
          <p:cNvPr id="9" name="TextBox 8"/>
          <p:cNvSpPr txBox="1"/>
          <p:nvPr/>
        </p:nvSpPr>
        <p:spPr>
          <a:xfrm>
            <a:off x="91440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Protocol-agnostic core by architecture, not by accident.</a:t>
            </a:r>
          </a:p>
        </p:txBody>
      </p:sp>
      <p:sp>
        <p:nvSpPr>
          <p:cNvPr id="10" name="Rectangle 9"/>
          <p:cNvSpPr/>
          <p:nvPr/>
        </p:nvSpPr>
        <p:spPr>
          <a:xfrm>
            <a:off x="6172200" y="1874519"/>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46520" y="2020823"/>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to run for years on a small box in a control cabinet</a:t>
            </a:r>
          </a:p>
        </p:txBody>
      </p:sp>
      <p:sp>
        <p:nvSpPr>
          <p:cNvPr id="12" name="TextBox 11"/>
          <p:cNvSpPr txBox="1"/>
          <p:nvPr/>
        </p:nvSpPr>
        <p:spPr>
          <a:xfrm>
            <a:off x="6446520" y="240487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Edge-first, not cloud-first. Store-and-forward by default.</a:t>
            </a:r>
          </a:p>
        </p:txBody>
      </p:sp>
      <p:sp>
        <p:nvSpPr>
          <p:cNvPr id="13" name="Rectangle 12"/>
          <p:cNvSpPr/>
          <p:nvPr/>
        </p:nvSpPr>
        <p:spPr>
          <a:xfrm>
            <a:off x="64008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440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Operators always know where the data flow broke</a:t>
            </a:r>
          </a:p>
        </p:txBody>
      </p:sp>
      <p:sp>
        <p:nvSpPr>
          <p:cNvPr id="15" name="TextBox 14"/>
          <p:cNvSpPr txBox="1"/>
          <p:nvPr/>
        </p:nvSpPr>
        <p:spPr>
          <a:xfrm>
            <a:off x="91440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Three-way diagnostics — source, pipeline, sink — by design.</a:t>
            </a:r>
          </a:p>
        </p:txBody>
      </p:sp>
      <p:sp>
        <p:nvSpPr>
          <p:cNvPr id="16" name="Rectangle 15"/>
          <p:cNvSpPr/>
          <p:nvPr/>
        </p:nvSpPr>
        <p:spPr>
          <a:xfrm>
            <a:off x="6172200" y="292608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446520" y="307238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Air-gapped factories are first-class</a:t>
            </a:r>
          </a:p>
        </p:txBody>
      </p:sp>
      <p:sp>
        <p:nvSpPr>
          <p:cNvPr id="18" name="TextBox 17"/>
          <p:cNvSpPr txBox="1"/>
          <p:nvPr/>
        </p:nvSpPr>
        <p:spPr>
          <a:xfrm>
            <a:off x="6446520" y="345643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RSA-signed JSON license, fully offline. No phone-home.</a:t>
            </a:r>
          </a:p>
        </p:txBody>
      </p:sp>
      <p:sp>
        <p:nvSpPr>
          <p:cNvPr id="19" name="Rectangle 18"/>
          <p:cNvSpPr/>
          <p:nvPr/>
        </p:nvSpPr>
        <p:spPr>
          <a:xfrm>
            <a:off x="64008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ectangle 19"/>
          <p:cNvSpPr/>
          <p:nvPr/>
        </p:nvSpPr>
        <p:spPr>
          <a:xfrm>
            <a:off x="64008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91440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 lapsed license never stops production data</a:t>
            </a:r>
          </a:p>
        </p:txBody>
      </p:sp>
      <p:sp>
        <p:nvSpPr>
          <p:cNvPr id="22" name="TextBox 21"/>
          <p:cNvSpPr txBox="1"/>
          <p:nvPr/>
        </p:nvSpPr>
        <p:spPr>
          <a:xfrm>
            <a:off x="91440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Expiration blocks configuration changes only.</a:t>
            </a:r>
          </a:p>
        </p:txBody>
      </p:sp>
      <p:sp>
        <p:nvSpPr>
          <p:cNvPr id="23" name="Rectangle 22"/>
          <p:cNvSpPr/>
          <p:nvPr/>
        </p:nvSpPr>
        <p:spPr>
          <a:xfrm>
            <a:off x="6172200" y="3977639"/>
            <a:ext cx="5394960" cy="96012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6172200" y="3977639"/>
            <a:ext cx="73152" cy="96012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6446520" y="4123943"/>
            <a:ext cx="4937760" cy="384048"/>
          </a:xfrm>
          <a:prstGeom prst="rect">
            <a:avLst/>
          </a:prstGeom>
          <a:noFill/>
        </p:spPr>
        <p:txBody>
          <a:bodyPr wrap="square" lIns="0" rIns="0" tIns="0" bIns="0" anchor="t">
            <a:spAutoFit/>
          </a:bodyPr>
          <a:lstStyle/>
          <a:p>
            <a:pPr algn="l">
              <a:lnSpc>
                <a:spcPct val="120000"/>
              </a:lnSpc>
            </a:pPr>
            <a:r>
              <a:rPr sz="1400" b="1" i="0">
                <a:solidFill>
                  <a:srgbClr val="FFFFFF"/>
                </a:solidFill>
                <a:latin typeface="Inter"/>
              </a:rPr>
              <a:t>AI proposes — humans decide</a:t>
            </a:r>
          </a:p>
        </p:txBody>
      </p:sp>
      <p:sp>
        <p:nvSpPr>
          <p:cNvPr id="26" name="TextBox 25"/>
          <p:cNvSpPr txBox="1"/>
          <p:nvPr/>
        </p:nvSpPr>
        <p:spPr>
          <a:xfrm>
            <a:off x="6446520" y="4507991"/>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Never silently alters the data path. Local-LLM-capable.</a:t>
            </a:r>
          </a:p>
        </p:txBody>
      </p:sp>
      <p:sp>
        <p:nvSpPr>
          <p:cNvPr id="27" name="Rectangle 26"/>
          <p:cNvSpPr/>
          <p:nvPr/>
        </p:nvSpPr>
        <p:spPr>
          <a:xfrm>
            <a:off x="64008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91440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Pay for the connectivity you actually use</a:t>
            </a:r>
          </a:p>
        </p:txBody>
      </p:sp>
      <p:sp>
        <p:nvSpPr>
          <p:cNvPr id="29" name="TextBox 28"/>
          <p:cNvSpPr txBox="1"/>
          <p:nvPr/>
        </p:nvSpPr>
        <p:spPr>
          <a:xfrm>
            <a:off x="91440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Per-edition packaging with modular per-protocol activation.</a:t>
            </a:r>
          </a:p>
        </p:txBody>
      </p:sp>
      <p:sp>
        <p:nvSpPr>
          <p:cNvPr id="30" name="Rectangle 29"/>
          <p:cNvSpPr/>
          <p:nvPr/>
        </p:nvSpPr>
        <p:spPr>
          <a:xfrm>
            <a:off x="6172200" y="5029200"/>
            <a:ext cx="36576" cy="960120"/>
          </a:xfrm>
          <a:prstGeom prst="rect">
            <a:avLst/>
          </a:prstGeom>
          <a:solidFill>
            <a:srgbClr val="5E6B78"/>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6446520" y="5175504"/>
            <a:ext cx="4937760" cy="384048"/>
          </a:xfrm>
          <a:prstGeom prst="rect">
            <a:avLst/>
          </a:prstGeom>
          <a:noFill/>
        </p:spPr>
        <p:txBody>
          <a:bodyPr wrap="square" lIns="0" rIns="0" tIns="0" bIns="0" anchor="t">
            <a:spAutoFit/>
          </a:bodyPr>
          <a:lstStyle/>
          <a:p>
            <a:pPr algn="l">
              <a:lnSpc>
                <a:spcPct val="120000"/>
              </a:lnSpc>
            </a:pPr>
            <a:r>
              <a:rPr sz="1400" b="1" i="0">
                <a:solidFill>
                  <a:srgbClr val="E8ECF1"/>
                </a:solidFill>
                <a:latin typeface="Inter"/>
              </a:rPr>
              <a:t>Built for industrial workloads</a:t>
            </a:r>
          </a:p>
        </p:txBody>
      </p:sp>
      <p:sp>
        <p:nvSpPr>
          <p:cNvPr id="32" name="TextBox 31"/>
          <p:cNvSpPr txBox="1"/>
          <p:nvPr/>
        </p:nvSpPr>
        <p:spPr>
          <a:xfrm>
            <a:off x="6446520" y="5559552"/>
            <a:ext cx="4937760" cy="365760"/>
          </a:xfrm>
          <a:prstGeom prst="rect">
            <a:avLst/>
          </a:prstGeom>
          <a:noFill/>
        </p:spPr>
        <p:txBody>
          <a:bodyPr wrap="square" lIns="0" rIns="0" tIns="0" bIns="0" anchor="t">
            <a:spAutoFit/>
          </a:bodyPr>
          <a:lstStyle/>
          <a:p>
            <a:pPr algn="l">
              <a:lnSpc>
                <a:spcPct val="130000"/>
              </a:lnSpc>
            </a:pPr>
            <a:r>
              <a:rPr sz="1200" b="0" i="0">
                <a:solidFill>
                  <a:srgbClr val="A8B3BD"/>
                </a:solidFill>
                <a:latin typeface="Inter"/>
              </a:rPr>
              <a:t>Not adapted IoT software. OT-aware vocabulary throughout.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10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DEPLOY INCREMENTALLY</a:t>
            </a:r>
          </a:p>
        </p:txBody>
      </p:sp>
      <p:sp>
        <p:nvSpPr>
          <p:cNvPr id="6" name="TextBox 5"/>
          <p:cNvSpPr txBox="1"/>
          <p:nvPr/>
        </p:nvSpPr>
        <p:spPr>
          <a:xfrm>
            <a:off x="640080" y="868680"/>
            <a:ext cx="10881360" cy="822960"/>
          </a:xfrm>
          <a:prstGeom prst="rect">
            <a:avLst/>
          </a:prstGeom>
          <a:noFill/>
        </p:spPr>
        <p:txBody>
          <a:bodyPr wrap="square" lIns="0" rIns="0" tIns="0" bIns="0" anchor="t">
            <a:spAutoFit/>
          </a:bodyPr>
          <a:lstStyle/>
          <a:p>
            <a:pPr algn="l">
              <a:lnSpc>
                <a:spcPct val="110000"/>
              </a:lnSpc>
            </a:pPr>
            <a:r>
              <a:rPr sz="3400" b="1" i="0">
                <a:solidFill>
                  <a:srgbClr val="FFFFFF"/>
                </a:solidFill>
                <a:latin typeface="Inter"/>
              </a:rPr>
              <a:t>Start small. Expand without disruption.</a:t>
            </a:r>
          </a:p>
        </p:txBody>
      </p:sp>
      <p:sp>
        <p:nvSpPr>
          <p:cNvPr id="7" name="Rectangle 6"/>
          <p:cNvSpPr/>
          <p:nvPr/>
        </p:nvSpPr>
        <p:spPr>
          <a:xfrm>
            <a:off x="108950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8950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cell</a:t>
            </a:r>
          </a:p>
        </p:txBody>
      </p:sp>
      <p:sp>
        <p:nvSpPr>
          <p:cNvPr id="9" name="Rectangle 8"/>
          <p:cNvSpPr/>
          <p:nvPr/>
        </p:nvSpPr>
        <p:spPr>
          <a:xfrm>
            <a:off x="314690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351266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351266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line</a:t>
            </a:r>
          </a:p>
        </p:txBody>
      </p:sp>
      <p:sp>
        <p:nvSpPr>
          <p:cNvPr id="12" name="Rectangle 11"/>
          <p:cNvSpPr/>
          <p:nvPr/>
        </p:nvSpPr>
        <p:spPr>
          <a:xfrm>
            <a:off x="557006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5935827" y="2331720"/>
            <a:ext cx="2011680" cy="77724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93582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One plant</a:t>
            </a:r>
          </a:p>
        </p:txBody>
      </p:sp>
      <p:sp>
        <p:nvSpPr>
          <p:cNvPr id="15" name="Rectangle 14"/>
          <p:cNvSpPr/>
          <p:nvPr/>
        </p:nvSpPr>
        <p:spPr>
          <a:xfrm>
            <a:off x="7993227" y="2711196"/>
            <a:ext cx="27432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ectangle 15"/>
          <p:cNvSpPr/>
          <p:nvPr/>
        </p:nvSpPr>
        <p:spPr>
          <a:xfrm>
            <a:off x="8358987" y="2331720"/>
            <a:ext cx="2011680" cy="77724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8358987" y="2331720"/>
            <a:ext cx="2011680" cy="777240"/>
          </a:xfrm>
          <a:prstGeom prst="rect">
            <a:avLst/>
          </a:prstGeom>
          <a:noFill/>
        </p:spPr>
        <p:txBody>
          <a:bodyPr wrap="square" lIns="0" rIns="0" tIns="0" bIns="0" anchor="ctr">
            <a:spAutoFit/>
          </a:bodyPr>
          <a:lstStyle/>
          <a:p>
            <a:pPr algn="ctr">
              <a:lnSpc>
                <a:spcPct val="115000"/>
              </a:lnSpc>
            </a:pPr>
            <a:r>
              <a:rPr sz="1800" b="1" i="0">
                <a:solidFill>
                  <a:srgbClr val="FFFFFF"/>
                </a:solidFill>
                <a:latin typeface="Inter"/>
              </a:rPr>
              <a:t>Fleet</a:t>
            </a:r>
          </a:p>
        </p:txBody>
      </p:sp>
      <p:sp>
        <p:nvSpPr>
          <p:cNvPr id="18" name="TextBox 17"/>
          <p:cNvSpPr txBox="1"/>
          <p:nvPr/>
        </p:nvSpPr>
        <p:spPr>
          <a:xfrm>
            <a:off x="10782147" y="2331720"/>
            <a:ext cx="1371600" cy="777240"/>
          </a:xfrm>
          <a:prstGeom prst="rect">
            <a:avLst/>
          </a:prstGeom>
          <a:noFill/>
        </p:spPr>
        <p:txBody>
          <a:bodyPr wrap="square" lIns="0" rIns="0" tIns="0" bIns="0" anchor="ctr">
            <a:spAutoFit/>
          </a:bodyPr>
          <a:lstStyle/>
          <a:p>
            <a:pPr algn="l">
              <a:lnSpc>
                <a:spcPct val="115000"/>
              </a:lnSpc>
            </a:pPr>
            <a:r>
              <a:rPr sz="1400" b="0" i="1">
                <a:solidFill>
                  <a:srgbClr val="A8B3BD"/>
                </a:solidFill>
                <a:latin typeface="Inter"/>
              </a:rPr>
              <a:t>...continues</a:t>
            </a:r>
          </a:p>
        </p:txBody>
      </p:sp>
      <p:sp>
        <p:nvSpPr>
          <p:cNvPr id="19" name="TextBox 18"/>
          <p:cNvSpPr txBox="1"/>
          <p:nvPr/>
        </p:nvSpPr>
        <p:spPr>
          <a:xfrm>
            <a:off x="1371600" y="3657600"/>
            <a:ext cx="9418320" cy="1463040"/>
          </a:xfrm>
          <a:prstGeom prst="rect">
            <a:avLst/>
          </a:prstGeom>
          <a:noFill/>
        </p:spPr>
        <p:txBody>
          <a:bodyPr wrap="square" lIns="0" rIns="0" tIns="0" bIns="0" anchor="t">
            <a:spAutoFit/>
          </a:bodyPr>
          <a:lstStyle/>
          <a:p>
            <a:pPr algn="ctr">
              <a:lnSpc>
                <a:spcPct val="140000"/>
              </a:lnSpc>
              <a:spcAft>
                <a:spcPts val="800"/>
              </a:spcAft>
            </a:pPr>
            <a:r>
              <a:rPr sz="2000" b="1" i="0">
                <a:solidFill>
                  <a:srgbClr val="E8ECF1"/>
                </a:solidFill>
                <a:latin typeface="Inter"/>
              </a:rPr>
              <a:t>Start with one machine, one line, or one plant.</a:t>
            </a:r>
          </a:p>
          <a:p>
            <a:pPr algn="ctr">
              <a:lnSpc>
                <a:spcPct val="140000"/>
              </a:lnSpc>
              <a:spcAft>
                <a:spcPts val="800"/>
              </a:spcAft>
            </a:pPr>
            <a:r>
              <a:rPr sz="1500" b="0" i="0">
                <a:solidFill>
                  <a:srgbClr val="A8B3BD"/>
                </a:solidFill>
                <a:latin typeface="Inter"/>
              </a:rPr>
              <a:t>EdgeConnect runs side-by-side with what you already have. EREMOS V2 onboards new sites without changing the platform underneath.</a:t>
            </a:r>
          </a:p>
          <a:p>
            <a:pPr algn="ctr">
              <a:lnSpc>
                <a:spcPct val="140000"/>
              </a:lnSpc>
              <a:spcAft>
                <a:spcPts val="800"/>
              </a:spcAft>
            </a:pPr>
            <a:r>
              <a:rPr sz="1500" b="0" i="1">
                <a:solidFill>
                  <a:srgbClr val="A8B3BD"/>
                </a:solidFill>
                <a:latin typeface="Inter"/>
              </a:rPr>
              <a:t>No big-bang cutover. No platform-wide upgrade that breaks the plants already running.</a:t>
            </a:r>
          </a:p>
        </p:txBody>
      </p:sp>
      <p:sp>
        <p:nvSpPr>
          <p:cNvPr id="20" name="Rectangle 19"/>
          <p:cNvSpPr/>
          <p:nvPr/>
        </p:nvSpPr>
        <p:spPr>
          <a:xfrm>
            <a:off x="1371600" y="5349240"/>
            <a:ext cx="9418320" cy="8686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ectangle 20"/>
          <p:cNvSpPr/>
          <p:nvPr/>
        </p:nvSpPr>
        <p:spPr>
          <a:xfrm>
            <a:off x="1371600" y="5349240"/>
            <a:ext cx="73152" cy="86868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600200" y="5486400"/>
            <a:ext cx="9144000" cy="594360"/>
          </a:xfrm>
          <a:prstGeom prst="rect">
            <a:avLst/>
          </a:prstGeom>
          <a:noFill/>
        </p:spPr>
        <p:txBody>
          <a:bodyPr wrap="square" lIns="0" rIns="0" tIns="0" bIns="0" anchor="ctr">
            <a:spAutoFit/>
          </a:bodyPr>
          <a:lstStyle/>
          <a:p>
            <a:pPr algn="l">
              <a:lnSpc>
                <a:spcPct val="130000"/>
              </a:lnSpc>
            </a:pPr>
            <a:r>
              <a:rPr sz="1400" b="0" i="1">
                <a:solidFill>
                  <a:srgbClr val="E8ECF1"/>
                </a:solidFill>
                <a:latin typeface="Inter"/>
              </a:rPr>
              <a:t>Typical proof-of-value deployments begin with a single line or machine cell and expand incrementally once operationally validated.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F2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365760" y="6446520"/>
            <a:ext cx="6400800" cy="274320"/>
          </a:xfrm>
          <a:prstGeom prst="rect">
            <a:avLst/>
          </a:prstGeom>
          <a:noFill/>
        </p:spPr>
        <p:txBody>
          <a:bodyPr wrap="square" lIns="0" rIns="0" tIns="0" bIns="0" anchor="t">
            <a:spAutoFit/>
          </a:bodyPr>
          <a:lstStyle/>
          <a:p>
            <a:pPr algn="l">
              <a:lnSpc>
                <a:spcPct val="115000"/>
              </a:lnSpc>
            </a:pPr>
            <a:r>
              <a:rPr sz="900" b="0" i="0" spc="220">
                <a:solidFill>
                  <a:srgbClr val="A8B3BD"/>
                </a:solidFill>
                <a:latin typeface="Inter"/>
              </a:rPr>
              <a:t>ELPIS  ·  INDUSTRIAL INTELLIGENCE PLATFORM</a:t>
            </a:r>
          </a:p>
        </p:txBody>
      </p:sp>
      <p:sp>
        <p:nvSpPr>
          <p:cNvPr id="4" name="TextBox 3"/>
          <p:cNvSpPr txBox="1"/>
          <p:nvPr/>
        </p:nvSpPr>
        <p:spPr>
          <a:xfrm>
            <a:off x="10789920" y="6446520"/>
            <a:ext cx="1097280" cy="274320"/>
          </a:xfrm>
          <a:prstGeom prst="rect">
            <a:avLst/>
          </a:prstGeom>
          <a:noFill/>
        </p:spPr>
        <p:txBody>
          <a:bodyPr wrap="square" lIns="0" rIns="0" tIns="0" bIns="0" anchor="t">
            <a:spAutoFit/>
          </a:bodyPr>
          <a:lstStyle/>
          <a:p>
            <a:pPr algn="r">
              <a:lnSpc>
                <a:spcPct val="115000"/>
              </a:lnSpc>
            </a:pPr>
            <a:r>
              <a:rPr sz="900" b="0" i="0" spc="150">
                <a:solidFill>
                  <a:srgbClr val="A8B3BD"/>
                </a:solidFill>
                <a:latin typeface="Inter"/>
              </a:rPr>
              <a:t>11 / 12</a:t>
            </a:r>
          </a:p>
        </p:txBody>
      </p:sp>
      <p:sp>
        <p:nvSpPr>
          <p:cNvPr id="5" name="TextBox 4"/>
          <p:cNvSpPr txBox="1"/>
          <p:nvPr/>
        </p:nvSpPr>
        <p:spPr>
          <a:xfrm>
            <a:off x="640080" y="457200"/>
            <a:ext cx="7315200" cy="320040"/>
          </a:xfrm>
          <a:prstGeom prst="rect">
            <a:avLst/>
          </a:prstGeom>
          <a:noFill/>
        </p:spPr>
        <p:txBody>
          <a:bodyPr wrap="square" lIns="0" rIns="0" tIns="0" bIns="0" anchor="t">
            <a:spAutoFit/>
          </a:bodyPr>
          <a:lstStyle/>
          <a:p>
            <a:pPr algn="l">
              <a:lnSpc>
                <a:spcPct val="115000"/>
              </a:lnSpc>
            </a:pPr>
            <a:r>
              <a:rPr sz="1100" b="1" i="0" spc="300">
                <a:solidFill>
                  <a:srgbClr val="A8B3BD"/>
                </a:solidFill>
                <a:latin typeface="Inter"/>
              </a:rPr>
              <a:t>EDITIONS, MODULES, ROADMAP</a:t>
            </a:r>
          </a:p>
        </p:txBody>
      </p:sp>
      <p:sp>
        <p:nvSpPr>
          <p:cNvPr id="6" name="TextBox 5"/>
          <p:cNvSpPr txBox="1"/>
          <p:nvPr/>
        </p:nvSpPr>
        <p:spPr>
          <a:xfrm>
            <a:off x="640080" y="868680"/>
            <a:ext cx="10881360" cy="594360"/>
          </a:xfrm>
          <a:prstGeom prst="rect">
            <a:avLst/>
          </a:prstGeom>
          <a:noFill/>
        </p:spPr>
        <p:txBody>
          <a:bodyPr wrap="square" lIns="0" rIns="0" tIns="0" bIns="0" anchor="t">
            <a:spAutoFit/>
          </a:bodyPr>
          <a:lstStyle/>
          <a:p>
            <a:pPr algn="l">
              <a:lnSpc>
                <a:spcPct val="110000"/>
              </a:lnSpc>
            </a:pPr>
            <a:r>
              <a:rPr sz="2800" b="1" i="0">
                <a:solidFill>
                  <a:srgbClr val="FFFFFF"/>
                </a:solidFill>
                <a:latin typeface="Inter"/>
              </a:rPr>
              <a:t>Editions and modules</a:t>
            </a:r>
          </a:p>
        </p:txBody>
      </p:sp>
      <p:sp>
        <p:nvSpPr>
          <p:cNvPr id="7" name="Rectangle 6"/>
          <p:cNvSpPr/>
          <p:nvPr/>
        </p:nvSpPr>
        <p:spPr>
          <a:xfrm>
            <a:off x="640080" y="1691640"/>
            <a:ext cx="3520440" cy="26974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14400" y="1947672"/>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STARTER</a:t>
            </a:r>
          </a:p>
        </p:txBody>
      </p:sp>
      <p:sp>
        <p:nvSpPr>
          <p:cNvPr id="9" name="TextBox 8"/>
          <p:cNvSpPr txBox="1"/>
          <p:nvPr/>
        </p:nvSpPr>
        <p:spPr>
          <a:xfrm>
            <a:off x="91440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Single-plant deployments</a:t>
            </a:r>
          </a:p>
        </p:txBody>
      </p:sp>
      <p:sp>
        <p:nvSpPr>
          <p:cNvPr id="10" name="Rectangle 9"/>
          <p:cNvSpPr/>
          <p:nvPr/>
        </p:nvSpPr>
        <p:spPr>
          <a:xfrm>
            <a:off x="91440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91440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2" name="TextBox 11"/>
          <p:cNvSpPr txBox="1"/>
          <p:nvPr/>
        </p:nvSpPr>
        <p:spPr>
          <a:xfrm>
            <a:off x="114300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Core EdgeConnect runtime</a:t>
            </a:r>
          </a:p>
        </p:txBody>
      </p:sp>
      <p:sp>
        <p:nvSpPr>
          <p:cNvPr id="13" name="TextBox 12"/>
          <p:cNvSpPr txBox="1"/>
          <p:nvPr/>
        </p:nvSpPr>
        <p:spPr>
          <a:xfrm>
            <a:off x="91440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4" name="TextBox 13"/>
          <p:cNvSpPr txBox="1"/>
          <p:nvPr/>
        </p:nvSpPr>
        <p:spPr>
          <a:xfrm>
            <a:off x="114300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Choice of 1 southbound module</a:t>
            </a:r>
          </a:p>
        </p:txBody>
      </p:sp>
      <p:sp>
        <p:nvSpPr>
          <p:cNvPr id="15" name="TextBox 14"/>
          <p:cNvSpPr txBox="1"/>
          <p:nvPr/>
        </p:nvSpPr>
        <p:spPr>
          <a:xfrm>
            <a:off x="91440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16" name="TextBox 15"/>
          <p:cNvSpPr txBox="1"/>
          <p:nvPr/>
        </p:nvSpPr>
        <p:spPr>
          <a:xfrm>
            <a:off x="114300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MQTT sink</a:t>
            </a:r>
          </a:p>
        </p:txBody>
      </p:sp>
      <p:sp>
        <p:nvSpPr>
          <p:cNvPr id="17" name="Rectangle 16"/>
          <p:cNvSpPr/>
          <p:nvPr/>
        </p:nvSpPr>
        <p:spPr>
          <a:xfrm>
            <a:off x="4343400" y="1691640"/>
            <a:ext cx="3520440" cy="2697480"/>
          </a:xfrm>
          <a:prstGeom prst="rect">
            <a:avLst/>
          </a:prstGeom>
          <a:solidFill>
            <a:srgbClr val="2A2F36"/>
          </a:solidFill>
          <a:ln>
            <a:solidFill>
              <a:srgbClr val="00A0E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ectangle 17"/>
          <p:cNvSpPr/>
          <p:nvPr/>
        </p:nvSpPr>
        <p:spPr>
          <a:xfrm>
            <a:off x="4800600" y="1600200"/>
            <a:ext cx="1188720" cy="21945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4800600" y="1600200"/>
            <a:ext cx="1188720" cy="219456"/>
          </a:xfrm>
          <a:prstGeom prst="rect">
            <a:avLst/>
          </a:prstGeom>
          <a:noFill/>
        </p:spPr>
        <p:txBody>
          <a:bodyPr wrap="square" lIns="0" rIns="0" tIns="0" bIns="0" anchor="ctr">
            <a:spAutoFit/>
          </a:bodyPr>
          <a:lstStyle/>
          <a:p>
            <a:pPr algn="ctr">
              <a:lnSpc>
                <a:spcPct val="115000"/>
              </a:lnSpc>
            </a:pPr>
            <a:r>
              <a:rPr sz="800" b="1" i="0" spc="200">
                <a:solidFill>
                  <a:srgbClr val="0F1419"/>
                </a:solidFill>
                <a:latin typeface="Inter"/>
              </a:rPr>
              <a:t>RECOMMENDED</a:t>
            </a:r>
          </a:p>
        </p:txBody>
      </p:sp>
      <p:sp>
        <p:nvSpPr>
          <p:cNvPr id="20" name="TextBox 19"/>
          <p:cNvSpPr txBox="1"/>
          <p:nvPr/>
        </p:nvSpPr>
        <p:spPr>
          <a:xfrm>
            <a:off x="4617720" y="1947672"/>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PROFESSIONAL</a:t>
            </a:r>
          </a:p>
        </p:txBody>
      </p:sp>
      <p:sp>
        <p:nvSpPr>
          <p:cNvPr id="21" name="TextBox 20"/>
          <p:cNvSpPr txBox="1"/>
          <p:nvPr/>
        </p:nvSpPr>
        <p:spPr>
          <a:xfrm>
            <a:off x="461772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Multi-protocol fleets</a:t>
            </a:r>
          </a:p>
        </p:txBody>
      </p:sp>
      <p:sp>
        <p:nvSpPr>
          <p:cNvPr id="22" name="Rectangle 21"/>
          <p:cNvSpPr/>
          <p:nvPr/>
        </p:nvSpPr>
        <p:spPr>
          <a:xfrm>
            <a:off x="461772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461772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4" name="TextBox 23"/>
          <p:cNvSpPr txBox="1"/>
          <p:nvPr/>
        </p:nvSpPr>
        <p:spPr>
          <a:xfrm>
            <a:off x="484632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Starter</a:t>
            </a:r>
          </a:p>
        </p:txBody>
      </p:sp>
      <p:sp>
        <p:nvSpPr>
          <p:cNvPr id="25" name="TextBox 24"/>
          <p:cNvSpPr txBox="1"/>
          <p:nvPr/>
        </p:nvSpPr>
        <p:spPr>
          <a:xfrm>
            <a:off x="461772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6" name="TextBox 25"/>
          <p:cNvSpPr txBox="1"/>
          <p:nvPr/>
        </p:nvSpPr>
        <p:spPr>
          <a:xfrm>
            <a:off x="484632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Multiple southbound modules</a:t>
            </a:r>
          </a:p>
        </p:txBody>
      </p:sp>
      <p:sp>
        <p:nvSpPr>
          <p:cNvPr id="27" name="TextBox 26"/>
          <p:cNvSpPr txBox="1"/>
          <p:nvPr/>
        </p:nvSpPr>
        <p:spPr>
          <a:xfrm>
            <a:off x="461772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28" name="TextBox 27"/>
          <p:cNvSpPr txBox="1"/>
          <p:nvPr/>
        </p:nvSpPr>
        <p:spPr>
          <a:xfrm>
            <a:off x="484632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OPC UA Server</a:t>
            </a:r>
          </a:p>
        </p:txBody>
      </p:sp>
      <p:sp>
        <p:nvSpPr>
          <p:cNvPr id="29" name="Rectangle 28"/>
          <p:cNvSpPr/>
          <p:nvPr/>
        </p:nvSpPr>
        <p:spPr>
          <a:xfrm>
            <a:off x="8046720" y="1691640"/>
            <a:ext cx="3520440" cy="2697480"/>
          </a:xfrm>
          <a:prstGeom prst="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321040" y="1947672"/>
            <a:ext cx="3063240" cy="365760"/>
          </a:xfrm>
          <a:prstGeom prst="rect">
            <a:avLst/>
          </a:prstGeom>
          <a:noFill/>
        </p:spPr>
        <p:txBody>
          <a:bodyPr wrap="square" lIns="0" rIns="0" tIns="0" bIns="0" anchor="t">
            <a:spAutoFit/>
          </a:bodyPr>
          <a:lstStyle/>
          <a:p>
            <a:pPr algn="l">
              <a:lnSpc>
                <a:spcPct val="115000"/>
              </a:lnSpc>
            </a:pPr>
            <a:r>
              <a:rPr sz="1500" b="1" i="0" spc="250">
                <a:solidFill>
                  <a:srgbClr val="00A0E0"/>
                </a:solidFill>
                <a:latin typeface="Inter"/>
              </a:rPr>
              <a:t>ENTERPRISE</a:t>
            </a:r>
          </a:p>
        </p:txBody>
      </p:sp>
      <p:sp>
        <p:nvSpPr>
          <p:cNvPr id="31" name="TextBox 30"/>
          <p:cNvSpPr txBox="1"/>
          <p:nvPr/>
        </p:nvSpPr>
        <p:spPr>
          <a:xfrm>
            <a:off x="8321040" y="2350008"/>
            <a:ext cx="3063240" cy="365760"/>
          </a:xfrm>
          <a:prstGeom prst="rect">
            <a:avLst/>
          </a:prstGeom>
          <a:noFill/>
        </p:spPr>
        <p:txBody>
          <a:bodyPr wrap="square" lIns="0" rIns="0" tIns="0" bIns="0" anchor="t">
            <a:spAutoFit/>
          </a:bodyPr>
          <a:lstStyle/>
          <a:p>
            <a:pPr algn="l">
              <a:lnSpc>
                <a:spcPct val="115000"/>
              </a:lnSpc>
            </a:pPr>
            <a:r>
              <a:rPr sz="1300" b="0" i="1">
                <a:solidFill>
                  <a:srgbClr val="A8B3BD"/>
                </a:solidFill>
                <a:latin typeface="Inter"/>
              </a:rPr>
              <a:t>Multi-site + audit-grade</a:t>
            </a:r>
          </a:p>
        </p:txBody>
      </p:sp>
      <p:sp>
        <p:nvSpPr>
          <p:cNvPr id="32" name="Rectangle 31"/>
          <p:cNvSpPr/>
          <p:nvPr/>
        </p:nvSpPr>
        <p:spPr>
          <a:xfrm>
            <a:off x="8321040" y="2788920"/>
            <a:ext cx="297180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8321040" y="2990088"/>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4" name="TextBox 33"/>
          <p:cNvSpPr txBox="1"/>
          <p:nvPr/>
        </p:nvSpPr>
        <p:spPr>
          <a:xfrm>
            <a:off x="8549640" y="2990088"/>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Everything in Professional</a:t>
            </a:r>
          </a:p>
        </p:txBody>
      </p:sp>
      <p:sp>
        <p:nvSpPr>
          <p:cNvPr id="35" name="TextBox 34"/>
          <p:cNvSpPr txBox="1"/>
          <p:nvPr/>
        </p:nvSpPr>
        <p:spPr>
          <a:xfrm>
            <a:off x="8321040" y="3392424"/>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6" name="TextBox 35"/>
          <p:cNvSpPr txBox="1"/>
          <p:nvPr/>
        </p:nvSpPr>
        <p:spPr>
          <a:xfrm>
            <a:off x="8549640" y="3392424"/>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Fleet-wide management</a:t>
            </a:r>
          </a:p>
        </p:txBody>
      </p:sp>
      <p:sp>
        <p:nvSpPr>
          <p:cNvPr id="37" name="TextBox 36"/>
          <p:cNvSpPr txBox="1"/>
          <p:nvPr/>
        </p:nvSpPr>
        <p:spPr>
          <a:xfrm>
            <a:off x="8321040" y="3794760"/>
            <a:ext cx="274320" cy="274320"/>
          </a:xfrm>
          <a:prstGeom prst="rect">
            <a:avLst/>
          </a:prstGeom>
          <a:noFill/>
        </p:spPr>
        <p:txBody>
          <a:bodyPr wrap="square" lIns="0" rIns="0" tIns="0" bIns="0" anchor="t">
            <a:spAutoFit/>
          </a:bodyPr>
          <a:lstStyle/>
          <a:p>
            <a:pPr algn="l">
              <a:lnSpc>
                <a:spcPct val="115000"/>
              </a:lnSpc>
            </a:pPr>
            <a:r>
              <a:rPr sz="1300" b="1" i="0">
                <a:solidFill>
                  <a:srgbClr val="00A0E0"/>
                </a:solidFill>
                <a:latin typeface="Inter"/>
              </a:rPr>
              <a:t>✓</a:t>
            </a:r>
          </a:p>
        </p:txBody>
      </p:sp>
      <p:sp>
        <p:nvSpPr>
          <p:cNvPr id="38" name="TextBox 37"/>
          <p:cNvSpPr txBox="1"/>
          <p:nvPr/>
        </p:nvSpPr>
        <p:spPr>
          <a:xfrm>
            <a:off x="8549640" y="3794760"/>
            <a:ext cx="2834640" cy="274320"/>
          </a:xfrm>
          <a:prstGeom prst="rect">
            <a:avLst/>
          </a:prstGeom>
          <a:noFill/>
        </p:spPr>
        <p:txBody>
          <a:bodyPr wrap="square" lIns="0" rIns="0" tIns="0" bIns="0" anchor="t">
            <a:spAutoFit/>
          </a:bodyPr>
          <a:lstStyle/>
          <a:p>
            <a:pPr algn="l">
              <a:lnSpc>
                <a:spcPct val="115000"/>
              </a:lnSpc>
            </a:pPr>
            <a:r>
              <a:rPr sz="1200" b="0" i="0">
                <a:solidFill>
                  <a:srgbClr val="E8ECF1"/>
                </a:solidFill>
                <a:latin typeface="Inter"/>
              </a:rPr>
              <a:t>Hash-chained config history</a:t>
            </a:r>
          </a:p>
        </p:txBody>
      </p:sp>
      <p:sp>
        <p:nvSpPr>
          <p:cNvPr id="39" name="TextBox 38"/>
          <p:cNvSpPr txBox="1"/>
          <p:nvPr/>
        </p:nvSpPr>
        <p:spPr>
          <a:xfrm>
            <a:off x="640080" y="4617720"/>
            <a:ext cx="10881360" cy="365760"/>
          </a:xfrm>
          <a:prstGeom prst="rect">
            <a:avLst/>
          </a:prstGeom>
          <a:noFill/>
        </p:spPr>
        <p:txBody>
          <a:bodyPr wrap="square" lIns="0" rIns="0" tIns="0" bIns="0" anchor="t">
            <a:spAutoFit/>
          </a:bodyPr>
          <a:lstStyle/>
          <a:p>
            <a:pPr algn="ctr">
              <a:lnSpc>
                <a:spcPct val="115000"/>
              </a:lnSpc>
            </a:pPr>
            <a:r>
              <a:rPr sz="1100" b="0" i="1" spc="150">
                <a:solidFill>
                  <a:srgbClr val="A8B3BD"/>
                </a:solidFill>
                <a:latin typeface="Inter"/>
              </a:rPr>
              <a:t>Connectivity modules  ·  FOCAS2  ·  MT-LINKi  ·  MTConnect  ·  Brother HTTP  ·  Modbus TCP  ·  MQTT  ·  OPC UA Server</a:t>
            </a:r>
          </a:p>
        </p:txBody>
      </p:sp>
      <p:sp>
        <p:nvSpPr>
          <p:cNvPr id="40" name="Rectangle 39"/>
          <p:cNvSpPr/>
          <p:nvPr/>
        </p:nvSpPr>
        <p:spPr>
          <a:xfrm>
            <a:off x="640080" y="5166360"/>
            <a:ext cx="10881360" cy="10972"/>
          </a:xfrm>
          <a:prstGeom prst="rect">
            <a:avLst/>
          </a:prstGeom>
          <a:solidFill>
            <a:srgbClr val="4A556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xtBox 40"/>
          <p:cNvSpPr txBox="1"/>
          <p:nvPr/>
        </p:nvSpPr>
        <p:spPr>
          <a:xfrm>
            <a:off x="640080" y="5349240"/>
            <a:ext cx="7315200" cy="274320"/>
          </a:xfrm>
          <a:prstGeom prst="rect">
            <a:avLst/>
          </a:prstGeom>
          <a:noFill/>
        </p:spPr>
        <p:txBody>
          <a:bodyPr wrap="square" lIns="0" rIns="0" tIns="0" bIns="0" anchor="t">
            <a:spAutoFit/>
          </a:bodyPr>
          <a:lstStyle/>
          <a:p>
            <a:pPr algn="l">
              <a:lnSpc>
                <a:spcPct val="115000"/>
              </a:lnSpc>
            </a:pPr>
            <a:r>
              <a:rPr sz="1100" b="1" i="0" spc="300">
                <a:solidFill>
                  <a:srgbClr val="00A0E0"/>
                </a:solidFill>
                <a:latin typeface="Inter"/>
              </a:rPr>
              <a:t>ON THE ROADMAP</a:t>
            </a:r>
          </a:p>
        </p:txBody>
      </p:sp>
      <p:sp>
        <p:nvSpPr>
          <p:cNvPr id="42" name="Rounded Rectangle 41"/>
          <p:cNvSpPr/>
          <p:nvPr/>
        </p:nvSpPr>
        <p:spPr>
          <a:xfrm>
            <a:off x="234543" y="5760720"/>
            <a:ext cx="2286000"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TextBox 42"/>
          <p:cNvSpPr txBox="1"/>
          <p:nvPr/>
        </p:nvSpPr>
        <p:spPr>
          <a:xfrm>
            <a:off x="234543" y="5760720"/>
            <a:ext cx="2286000"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OPC UA Client (southbound)</a:t>
            </a:r>
          </a:p>
        </p:txBody>
      </p:sp>
      <p:sp>
        <p:nvSpPr>
          <p:cNvPr id="44" name="Rounded Rectangle 43"/>
          <p:cNvSpPr/>
          <p:nvPr/>
        </p:nvSpPr>
        <p:spPr>
          <a:xfrm>
            <a:off x="2685135" y="5760720"/>
            <a:ext cx="206654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xtBox 44"/>
          <p:cNvSpPr txBox="1"/>
          <p:nvPr/>
        </p:nvSpPr>
        <p:spPr>
          <a:xfrm>
            <a:off x="2685135" y="5760720"/>
            <a:ext cx="206654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Siemens S7 (southbound)</a:t>
            </a:r>
          </a:p>
        </p:txBody>
      </p:sp>
      <p:sp>
        <p:nvSpPr>
          <p:cNvPr id="46" name="Rounded Rectangle 45"/>
          <p:cNvSpPr/>
          <p:nvPr/>
        </p:nvSpPr>
        <p:spPr>
          <a:xfrm>
            <a:off x="4916271" y="57607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xtBox 46"/>
          <p:cNvSpPr txBox="1"/>
          <p:nvPr/>
        </p:nvSpPr>
        <p:spPr>
          <a:xfrm>
            <a:off x="4916271" y="57607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HTTP / TCP sinks (northbound)</a:t>
            </a:r>
          </a:p>
        </p:txBody>
      </p:sp>
      <p:sp>
        <p:nvSpPr>
          <p:cNvPr id="48" name="Rounded Rectangle 47"/>
          <p:cNvSpPr/>
          <p:nvPr/>
        </p:nvSpPr>
        <p:spPr>
          <a:xfrm>
            <a:off x="7586319" y="5760720"/>
            <a:ext cx="1700784"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TextBox 48"/>
          <p:cNvSpPr txBox="1"/>
          <p:nvPr/>
        </p:nvSpPr>
        <p:spPr>
          <a:xfrm>
            <a:off x="7586319" y="5760720"/>
            <a:ext cx="1700784"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Linux host support</a:t>
            </a:r>
          </a:p>
        </p:txBody>
      </p:sp>
      <p:sp>
        <p:nvSpPr>
          <p:cNvPr id="50" name="Rounded Rectangle 49"/>
          <p:cNvSpPr/>
          <p:nvPr/>
        </p:nvSpPr>
        <p:spPr>
          <a:xfrm>
            <a:off x="9451695" y="5760720"/>
            <a:ext cx="2505456" cy="384048"/>
          </a:xfrm>
          <a:prstGeom prst="roundRect">
            <a:avLst/>
          </a:prstGeom>
          <a:solidFill>
            <a:srgbClr val="2A2F36"/>
          </a:solidFill>
          <a:ln>
            <a:solidFill>
              <a:srgbClr val="4A556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xtBox 50"/>
          <p:cNvSpPr txBox="1"/>
          <p:nvPr/>
        </p:nvSpPr>
        <p:spPr>
          <a:xfrm>
            <a:off x="9451695" y="5760720"/>
            <a:ext cx="2505456" cy="384048"/>
          </a:xfrm>
          <a:prstGeom prst="rect">
            <a:avLst/>
          </a:prstGeom>
          <a:noFill/>
        </p:spPr>
        <p:txBody>
          <a:bodyPr wrap="square" lIns="0" rIns="0" tIns="0" bIns="0" anchor="ctr">
            <a:spAutoFit/>
          </a:bodyPr>
          <a:lstStyle/>
          <a:p>
            <a:pPr algn="ctr">
              <a:lnSpc>
                <a:spcPct val="115000"/>
              </a:lnSpc>
            </a:pPr>
            <a:r>
              <a:rPr sz="1000" b="0" i="0">
                <a:solidFill>
                  <a:srgbClr val="A8B3BD"/>
                </a:solidFill>
                <a:latin typeface="Inter"/>
              </a:rPr>
              <a:t>AI-assisted operations agents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5897880" y="1691640"/>
            <a:ext cx="365760" cy="36576"/>
          </a:xfrm>
          <a:prstGeom prst="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640080" y="1371600"/>
            <a:ext cx="10881360" cy="320040"/>
          </a:xfrm>
          <a:prstGeom prst="rect">
            <a:avLst/>
          </a:prstGeom>
          <a:noFill/>
        </p:spPr>
        <p:txBody>
          <a:bodyPr wrap="square" lIns="0" rIns="0" tIns="0" bIns="0" anchor="t">
            <a:spAutoFit/>
          </a:bodyPr>
          <a:lstStyle/>
          <a:p>
            <a:pPr algn="ctr">
              <a:lnSpc>
                <a:spcPct val="115000"/>
              </a:lnSpc>
            </a:pPr>
            <a:r>
              <a:rPr sz="1200" b="1" i="0" spc="400">
                <a:solidFill>
                  <a:srgbClr val="A8B3BD"/>
                </a:solidFill>
                <a:latin typeface="Inter"/>
              </a:rPr>
              <a:t>NEXT STEP</a:t>
            </a:r>
          </a:p>
        </p:txBody>
      </p:sp>
      <p:sp>
        <p:nvSpPr>
          <p:cNvPr id="4" name="TextBox 3"/>
          <p:cNvSpPr txBox="1"/>
          <p:nvPr/>
        </p:nvSpPr>
        <p:spPr>
          <a:xfrm>
            <a:off x="640080" y="1920240"/>
            <a:ext cx="10881360" cy="914400"/>
          </a:xfrm>
          <a:prstGeom prst="rect">
            <a:avLst/>
          </a:prstGeom>
          <a:noFill/>
        </p:spPr>
        <p:txBody>
          <a:bodyPr wrap="square" lIns="0" rIns="0" tIns="0" bIns="0" anchor="t">
            <a:spAutoFit/>
          </a:bodyPr>
          <a:lstStyle/>
          <a:p>
            <a:pPr algn="ctr">
              <a:lnSpc>
                <a:spcPct val="110000"/>
              </a:lnSpc>
            </a:pPr>
            <a:r>
              <a:rPr sz="4200" b="1" i="0">
                <a:solidFill>
                  <a:srgbClr val="FFFFFF"/>
                </a:solidFill>
                <a:latin typeface="Inter"/>
              </a:rPr>
              <a:t>Bring us a real plant. We'll scope a real proof.</a:t>
            </a:r>
          </a:p>
        </p:txBody>
      </p:sp>
      <p:sp>
        <p:nvSpPr>
          <p:cNvPr id="5" name="TextBox 4"/>
          <p:cNvSpPr txBox="1"/>
          <p:nvPr/>
        </p:nvSpPr>
        <p:spPr>
          <a:xfrm>
            <a:off x="1371600" y="3291840"/>
            <a:ext cx="9418320" cy="1554480"/>
          </a:xfrm>
          <a:prstGeom prst="rect">
            <a:avLst/>
          </a:prstGeom>
          <a:noFill/>
        </p:spPr>
        <p:txBody>
          <a:bodyPr wrap="square" lIns="0" rIns="0" tIns="0" bIns="0" anchor="t">
            <a:spAutoFit/>
          </a:bodyPr>
          <a:lstStyle/>
          <a:p>
            <a:pPr algn="ctr">
              <a:lnSpc>
                <a:spcPct val="160000"/>
              </a:lnSpc>
              <a:spcAft>
                <a:spcPts val="800"/>
              </a:spcAft>
            </a:pPr>
            <a:r>
              <a:rPr sz="1800" b="0" i="0">
                <a:solidFill>
                  <a:srgbClr val="E8ECF1"/>
                </a:solidFill>
                <a:latin typeface="Inter"/>
              </a:rPr>
              <a:t>Bring us a representative plant — a controller mix, a target broker, an OEE definition.</a:t>
            </a:r>
          </a:p>
          <a:p>
            <a:pPr algn="ctr">
              <a:lnSpc>
                <a:spcPct val="160000"/>
              </a:lnSpc>
              <a:spcAft>
                <a:spcPts val="800"/>
              </a:spcAft>
            </a:pPr>
            <a:r>
              <a:rPr sz="1800" b="0" i="0">
                <a:solidFill>
                  <a:srgbClr val="E8ECF1"/>
                </a:solidFill>
                <a:latin typeface="Inter"/>
              </a:rPr>
              <a:t>We will scope a proof of value against it.</a:t>
            </a:r>
          </a:p>
          <a:p>
            <a:pPr algn="ctr">
              <a:lnSpc>
                <a:spcPct val="160000"/>
              </a:lnSpc>
              <a:spcAft>
                <a:spcPts val="800"/>
              </a:spcAft>
            </a:pPr>
            <a:r>
              <a:rPr sz="1800" b="0" i="1">
                <a:solidFill>
                  <a:srgbClr val="A8B3BD"/>
                </a:solidFill>
                <a:latin typeface="Inter"/>
              </a:rPr>
              <a:t>Demos run on real protocols against your real signals. Not canned data.</a:t>
            </a:r>
          </a:p>
        </p:txBody>
      </p:sp>
      <p:sp>
        <p:nvSpPr>
          <p:cNvPr id="6" name="Rounded Rectangle 5"/>
          <p:cNvSpPr/>
          <p:nvPr/>
        </p:nvSpPr>
        <p:spPr>
          <a:xfrm>
            <a:off x="4495647" y="4983480"/>
            <a:ext cx="3200400" cy="594360"/>
          </a:xfrm>
          <a:prstGeom prst="roundRect">
            <a:avLst/>
          </a:prstGeom>
          <a:solidFill>
            <a:srgbClr val="00A0E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4495647" y="4983480"/>
            <a:ext cx="3200400" cy="594360"/>
          </a:xfrm>
          <a:prstGeom prst="rect">
            <a:avLst/>
          </a:prstGeom>
          <a:noFill/>
        </p:spPr>
        <p:txBody>
          <a:bodyPr wrap="square" lIns="0" rIns="0" tIns="0" bIns="0" anchor="ctr">
            <a:spAutoFit/>
          </a:bodyPr>
          <a:lstStyle/>
          <a:p>
            <a:pPr algn="ctr">
              <a:lnSpc>
                <a:spcPct val="115000"/>
              </a:lnSpc>
            </a:pPr>
            <a:r>
              <a:rPr sz="1600" b="1" i="0" spc="150">
                <a:solidFill>
                  <a:srgbClr val="0F1419"/>
                </a:solidFill>
                <a:latin typeface="Inter"/>
              </a:rPr>
              <a:t>Book a scoping call</a:t>
            </a:r>
          </a:p>
        </p:txBody>
      </p:sp>
      <p:sp>
        <p:nvSpPr>
          <p:cNvPr id="8" name="TextBox 7"/>
          <p:cNvSpPr txBox="1"/>
          <p:nvPr/>
        </p:nvSpPr>
        <p:spPr>
          <a:xfrm>
            <a:off x="640080" y="5897880"/>
            <a:ext cx="10881360" cy="640080"/>
          </a:xfrm>
          <a:prstGeom prst="rect">
            <a:avLst/>
          </a:prstGeom>
          <a:noFill/>
        </p:spPr>
        <p:txBody>
          <a:bodyPr wrap="square" lIns="0" rIns="0" tIns="0" bIns="0" anchor="t">
            <a:spAutoFit/>
          </a:bodyPr>
          <a:lstStyle/>
          <a:p>
            <a:pPr algn="ctr">
              <a:lnSpc>
                <a:spcPct val="160000"/>
              </a:lnSpc>
            </a:pPr>
            <a:r>
              <a:rPr sz="1300" b="0" i="0">
                <a:solidFill>
                  <a:srgbClr val="E8ECF1"/>
                </a:solidFill>
                <a:latin typeface="Inter"/>
              </a:rPr>
              <a:t>[ Presenter Name ]   ·   [ presenter@elpisitsolutions.com ]</a:t>
            </a:r>
          </a:p>
          <a:p>
            <a:pPr algn="ctr">
              <a:lnSpc>
                <a:spcPct val="160000"/>
              </a:lnSpc>
            </a:pPr>
            <a:r>
              <a:rPr sz="1300" b="0" i="1">
                <a:solidFill>
                  <a:srgbClr val="A8B3BD"/>
                </a:solidFill>
                <a:latin typeface="Inter"/>
              </a:rPr>
              <a:t>Elpis IT Solutions   ·   [ website ]   ·   [ phone ]</a:t>
            </a:r>
          </a:p>
        </p:txBody>
      </p:sp>
      <p:sp>
        <p:nvSpPr>
          <p:cNvPr id="9" name="TextBox 8"/>
          <p:cNvSpPr txBox="1"/>
          <p:nvPr/>
        </p:nvSpPr>
        <p:spPr>
          <a:xfrm>
            <a:off x="640080" y="6537960"/>
            <a:ext cx="10881360" cy="274320"/>
          </a:xfrm>
          <a:prstGeom prst="rect">
            <a:avLst/>
          </a:prstGeom>
          <a:noFill/>
        </p:spPr>
        <p:txBody>
          <a:bodyPr wrap="square" lIns="0" rIns="0" tIns="0" bIns="0" anchor="t">
            <a:spAutoFit/>
          </a:bodyPr>
          <a:lstStyle/>
          <a:p>
            <a:pPr algn="ctr">
              <a:lnSpc>
                <a:spcPct val="115000"/>
              </a:lnSpc>
            </a:pPr>
            <a:r>
              <a:rPr sz="800" b="0" i="0" spc="300">
                <a:solidFill>
                  <a:srgbClr val="A8B3BD"/>
                </a:solidFill>
                <a:latin typeface="Inter"/>
              </a:rPr>
              <a:t>ELPIS  ·  THINK · CREATE · ENABLE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